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58" r:id="rId3"/>
    <p:sldId id="259" r:id="rId4"/>
    <p:sldId id="269" r:id="rId5"/>
    <p:sldId id="287" r:id="rId6"/>
    <p:sldId id="293" r:id="rId7"/>
    <p:sldId id="260" r:id="rId8"/>
    <p:sldId id="272" r:id="rId9"/>
    <p:sldId id="261" r:id="rId10"/>
    <p:sldId id="276" r:id="rId11"/>
    <p:sldId id="273" r:id="rId12"/>
    <p:sldId id="264" r:id="rId13"/>
    <p:sldId id="284" r:id="rId14"/>
    <p:sldId id="288" r:id="rId15"/>
    <p:sldId id="289" r:id="rId16"/>
    <p:sldId id="290" r:id="rId17"/>
    <p:sldId id="271" r:id="rId18"/>
    <p:sldId id="278" r:id="rId19"/>
    <p:sldId id="274" r:id="rId20"/>
    <p:sldId id="286" r:id="rId21"/>
    <p:sldId id="282" r:id="rId22"/>
    <p:sldId id="268" r:id="rId23"/>
    <p:sldId id="266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81174"/>
  </p:normalViewPr>
  <p:slideViewPr>
    <p:cSldViewPr snapToGrid="0">
      <p:cViewPr varScale="1">
        <p:scale>
          <a:sx n="91" d="100"/>
          <a:sy n="91" d="100"/>
        </p:scale>
        <p:origin x="10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CE468-2234-BA40-ABC6-4189C023341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EA163-0B8B-8640-B46C-D04DA4496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59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08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323D5-A2D1-09D0-5F14-1B232701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0C83F-48B5-19C7-78FC-B8781B6F9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0EA80-ADBA-FB0A-A628-3B83C7F34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C7320-BA97-2DB1-C36C-51CCD5D99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13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1976-2022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just list them vertically, not a table. </a:t>
            </a:r>
            <a:br>
              <a:rPr lang="en-US" dirty="0"/>
            </a:br>
            <a:r>
              <a:rPr lang="en-US" dirty="0"/>
              <a:t>discuss how you include them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include whole pop and %male as 2 vars, not just </a:t>
            </a:r>
            <a:r>
              <a:rPr lang="en-US" dirty="0" err="1"/>
              <a:t>male_pop</a:t>
            </a:r>
            <a:r>
              <a:rPr lang="en-US" dirty="0"/>
              <a:t> raw.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05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72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22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seems to be a solid finding, however we are not seeing any trend in the years immediately post treatment, so we need to look into this further in Model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51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1E18B-EEA9-30E1-1A9F-5597A49E4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ECD79-AADD-9D8D-B346-840F9B1A4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A8014-841E-F635-CE41-171369D8C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3BAD4-3FAD-4D2A-C563-4C359FDD4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90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mention how population is still a huge factor: need to try another model that accounts for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10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While this seems to be a more robust finding, we noticed earlier that some variables, like population, are strong factors.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means we are giving stronger weight in the model to big states.</a:t>
            </a:r>
            <a:br>
              <a:rPr lang="en-US" dirty="0"/>
            </a:br>
            <a:br>
              <a:rPr lang="en-US" dirty="0"/>
            </a:br>
            <a:r>
              <a:rPr lang="en-US" sz="1200" dirty="0"/>
              <a:t>Model 3 accounts for this by adjusting the control group to best represent the treatment group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7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side: we take each state's average pre-</a:t>
            </a:r>
            <a:r>
              <a:rPr lang="en-US" dirty="0" err="1"/>
              <a:t>legalisation</a:t>
            </a:r>
            <a:r>
              <a:rPr lang="en-US" dirty="0"/>
              <a:t> characteristics, feed them into this logistic regression, out comes a number between 0 and 1</a:t>
            </a:r>
          </a:p>
          <a:p>
            <a:endParaRPr lang="en-US" dirty="0"/>
          </a:p>
          <a:p>
            <a:r>
              <a:rPr lang="en-US" dirty="0"/>
              <a:t>Left side: result shows how likely that state was to </a:t>
            </a:r>
            <a:r>
              <a:rPr lang="en-US" dirty="0" err="1"/>
              <a:t>legalise</a:t>
            </a:r>
            <a:r>
              <a:rPr lang="en-US" dirty="0"/>
              <a:t> marijuana. We then use those probabilities to construct our weights in the next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7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control state that scores high gets a high weight and effectively acts as a stand-in for the treated group. A control state that scores low gets a low weight and barely influences the results.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treated states themselves are also reweighted, but in the opposite direction — a treated state that was always very likely to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legalise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gets down weighted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end result is a control group that is more representative of the treatment group, therefore better satisfying the parallel trends assumption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trying to see if NY outperformed Wyoming, but rather if NY outperformed Pennsylvania (where marijuana is NOT legal recreationally)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174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460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While this is yet again more robust, we are still privy to representing national trends rather than the treatment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dirty="0"/>
              <a:t>To resolve this, we will look at one more model….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290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model calculates the average % change for both states and the nation for any specific year and then calculates how each state deviates from that national change. This is our new response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suppose that in 2018 national employment grew by 2.0%. Wyoming — a non-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legalising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state — grew by 1.8%, giving a deviation of−0.2%. New York grew by 3.1%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year, giving a deviation of+1.1%. When we run this deviation as the outcome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 are asking: did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legalising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states systematically outperform the national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trendrelative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non-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legalising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states, and did that gap change around the time of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legalisation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18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further confirms our theory that we do see a slight delayed effect. </a:t>
            </a:r>
            <a:br>
              <a:rPr lang="en-US" dirty="0"/>
            </a:br>
            <a:r>
              <a:rPr lang="en-US" dirty="0"/>
              <a:t>Year 4 most likely due to covid.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So what does this mean? Well, remember this graph? &gt; flip to next slide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remove next two slides if need more time elsewhere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932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267E4-769D-E90F-7AC4-69FC20B6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0A2A0-E67B-F898-E467-B7F415D47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46119-EF94-FE7B-244D-2941255CB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Well our findings are similar, but look more like…..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0CDD0-7298-9F70-6DD7-FD6BD5F4F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865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…THIS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see delayed treatment effects. *explain how this graph is a simplified version of the graphs we just explored*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49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may be due to the time it takes for states to set-up marijuana industry.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357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A163-0B8B-8640-B46C-D04DA4496B0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45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E312D-FDD5-1149-A362-2F8BD8D27B6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92F0-8149-4345-B867-2DC5C663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1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E312D-FDD5-1149-A362-2F8BD8D27B6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92F0-8149-4345-B867-2DC5C663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39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E312D-FDD5-1149-A362-2F8BD8D27B6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92F0-8149-4345-B867-2DC5C663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8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E312D-FDD5-1149-A362-2F8BD8D27B6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92F0-8149-4345-B867-2DC5C663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4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E312D-FDD5-1149-A362-2F8BD8D27B6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92F0-8149-4345-B867-2DC5C663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5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E312D-FDD5-1149-A362-2F8BD8D27B6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92F0-8149-4345-B867-2DC5C663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0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E312D-FDD5-1149-A362-2F8BD8D27B6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92F0-8149-4345-B867-2DC5C663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E312D-FDD5-1149-A362-2F8BD8D27B6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92F0-8149-4345-B867-2DC5C663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00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E312D-FDD5-1149-A362-2F8BD8D27B6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92F0-8149-4345-B867-2DC5C663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97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E312D-FDD5-1149-A362-2F8BD8D27B6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92F0-8149-4345-B867-2DC5C663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4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E312D-FDD5-1149-A362-2F8BD8D27B6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92F0-8149-4345-B867-2DC5C663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61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8CE312D-FDD5-1149-A362-2F8BD8D27B6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A2292F0-8149-4345-B867-2DC5C663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831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CE9434C-D6C0-32D4-020E-6D94EDCD5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0400" y="1074057"/>
            <a:ext cx="8701049" cy="2923375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Recreational Marijuana and State-Level Employment Rates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458245-24FA-9F02-BE3E-5E58E1EAB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Oliver Reece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69256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4A925-B16C-13AD-C62C-D6FC47D57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E0879-F876-3339-DFD0-8CCA70DAC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/>
              <a:t>“The Green Wave: Effects of Legal Marijuana on The Labor Markets.” - </a:t>
            </a:r>
            <a:r>
              <a:rPr lang="en-US" sz="2600" dirty="0"/>
              <a:t>Sara Varon</a:t>
            </a:r>
          </a:p>
          <a:p>
            <a:pPr lvl="1" fontAlgn="base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Positive Impact on Wages and Employment Levels</a:t>
            </a:r>
          </a:p>
          <a:p>
            <a:pPr lvl="2" fontAlgn="base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For Marijuana-Related Industry Only</a:t>
            </a:r>
          </a:p>
          <a:p>
            <a:endParaRPr lang="en-US" dirty="0"/>
          </a:p>
          <a:p>
            <a:r>
              <a:rPr lang="en-US" i="1" dirty="0"/>
              <a:t>“The Impact of Recreational Cannabis Legalization on Cannabis Use and Associated Outcomes: A Systematic Review” </a:t>
            </a:r>
            <a:r>
              <a:rPr lang="en-US" dirty="0"/>
              <a:t>- </a:t>
            </a:r>
            <a:r>
              <a:rPr lang="en-US" sz="2600" dirty="0"/>
              <a:t>James MacKillop</a:t>
            </a:r>
          </a:p>
          <a:p>
            <a:pPr lvl="1" fontAlgn="base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Inconsistent Effects of Recreational Cannabis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Legalisation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dirty="0"/>
          </a:p>
          <a:p>
            <a:r>
              <a:rPr lang="en-US" i="1" dirty="0"/>
              <a:t>“Cannabis Use, Employment, and Income: Fixed-effects Analysis of Panel Data” </a:t>
            </a:r>
            <a:r>
              <a:rPr lang="en-US" dirty="0"/>
              <a:t>- </a:t>
            </a:r>
            <a:r>
              <a:rPr lang="en-US" sz="2600" dirty="0"/>
              <a:t>Ioana Popovici and Michael T French</a:t>
            </a:r>
          </a:p>
          <a:p>
            <a:pPr lvl="1" fontAlgn="base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Potential Negative Relationship</a:t>
            </a:r>
          </a:p>
        </p:txBody>
      </p:sp>
    </p:spTree>
    <p:extLst>
      <p:ext uri="{BB962C8B-B14F-4D97-AF65-F5344CB8AC3E}">
        <p14:creationId xmlns:p14="http://schemas.microsoft.com/office/powerpoint/2010/main" val="97101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07AD6D-1E09-76D9-6B7B-99798FCC9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Guiding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142E1-9703-E17D-6F82-D05F7945D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274" y="1797908"/>
            <a:ext cx="6128950" cy="27926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Does </a:t>
            </a:r>
            <a:r>
              <a:rPr lang="en-US" dirty="0" err="1">
                <a:solidFill>
                  <a:schemeClr val="tx2"/>
                </a:solidFill>
              </a:rPr>
              <a:t>legalising</a:t>
            </a:r>
            <a:r>
              <a:rPr lang="en-US" dirty="0">
                <a:solidFill>
                  <a:schemeClr val="tx2"/>
                </a:solidFill>
              </a:rPr>
              <a:t> recreational marijuana have an impact on state-level employment?</a:t>
            </a:r>
            <a:endParaRPr lang="en-US" b="0" dirty="0">
              <a:solidFill>
                <a:schemeClr val="tx2"/>
              </a:solidFill>
              <a:effectLst/>
            </a:endParaRP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909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5C9B49-C5F4-C8E4-5053-577369DD9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Methodology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68466-F01C-DF46-47B1-D9D4CA433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2812" y="1032987"/>
            <a:ext cx="4919108" cy="47920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tx2"/>
                </a:solidFill>
              </a:rPr>
              <a:t>DiD</a:t>
            </a:r>
            <a:r>
              <a:rPr lang="en-US" sz="2000" dirty="0">
                <a:solidFill>
                  <a:schemeClr val="tx2"/>
                </a:solidFill>
              </a:rPr>
              <a:t> Framework</a:t>
            </a:r>
          </a:p>
          <a:p>
            <a:r>
              <a:rPr lang="en-US" sz="2000" dirty="0">
                <a:solidFill>
                  <a:schemeClr val="tx2"/>
                </a:solidFill>
              </a:rPr>
              <a:t>Defining the treatment: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The passing of legislature making marijuana fully legal for recreational use</a:t>
            </a:r>
          </a:p>
          <a:p>
            <a:r>
              <a:rPr lang="en-US" sz="2000" dirty="0">
                <a:solidFill>
                  <a:schemeClr val="tx2"/>
                </a:solidFill>
              </a:rPr>
              <a:t>Defining the groups: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Control: Any state that never underwent treatment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Treated: Any state that underwent treatment (2013-2024) 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577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1BED1DD-CC91-1F9A-0C88-6E78D00D1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is Difference-in-Differences?</a:t>
            </a:r>
          </a:p>
        </p:txBody>
      </p:sp>
    </p:spTree>
    <p:extLst>
      <p:ext uri="{BB962C8B-B14F-4D97-AF65-F5344CB8AC3E}">
        <p14:creationId xmlns:p14="http://schemas.microsoft.com/office/powerpoint/2010/main" val="2523484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5D4FBA-9AD8-2BDC-36EC-A58945BFE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graph of a treatment&#10;&#10;AI-generated content may be incorrect.">
            <a:extLst>
              <a:ext uri="{FF2B5EF4-FFF2-40B4-BE49-F238E27FC236}">
                <a16:creationId xmlns:a16="http://schemas.microsoft.com/office/drawing/2014/main" id="{C4D6433C-CE2C-4BF4-D7A6-C01A80136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298" y="643468"/>
            <a:ext cx="905864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85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EE5D4-7BAE-34EE-B92A-8130B193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Data: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B39305-5BF1-57CE-F227-1C02EFA12BA0}"/>
              </a:ext>
            </a:extLst>
          </p:cNvPr>
          <p:cNvSpPr txBox="1"/>
          <p:nvPr/>
        </p:nvSpPr>
        <p:spPr>
          <a:xfrm>
            <a:off x="638878" y="1583467"/>
            <a:ext cx="10909643" cy="44449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Average State Employment Level </a:t>
            </a:r>
          </a:p>
          <a:p>
            <a:pPr marL="342900" indent="-34290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 State Population</a:t>
            </a:r>
          </a:p>
          <a:p>
            <a:pPr marL="342900" indent="-34290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% State Population Male</a:t>
            </a:r>
          </a:p>
          <a:p>
            <a:pPr marL="342900" indent="-34290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 State Population Black</a:t>
            </a:r>
          </a:p>
          <a:p>
            <a:pPr marL="342900" indent="-34290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State Median Income</a:t>
            </a:r>
          </a:p>
          <a:p>
            <a:pPr marL="342900" indent="-34290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 GDP</a:t>
            </a:r>
          </a:p>
          <a:p>
            <a:pPr marL="342900" indent="-34290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C8444-B22B-4850-AA84-C18E723705A4}"/>
              </a:ext>
            </a:extLst>
          </p:cNvPr>
          <p:cNvSpPr txBox="1"/>
          <p:nvPr/>
        </p:nvSpPr>
        <p:spPr>
          <a:xfrm>
            <a:off x="3873540" y="5843785"/>
            <a:ext cx="4440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*NOTE: All variables are on an annual scale</a:t>
            </a:r>
          </a:p>
        </p:txBody>
      </p:sp>
    </p:spTree>
    <p:extLst>
      <p:ext uri="{BB962C8B-B14F-4D97-AF65-F5344CB8AC3E}">
        <p14:creationId xmlns:p14="http://schemas.microsoft.com/office/powerpoint/2010/main" val="1779290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01CC5-9503-46ED-5AA0-6D7641E5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1- State-Year Fixed Effects (</a:t>
            </a:r>
            <a:r>
              <a:rPr lang="en-US" dirty="0" err="1"/>
              <a:t>DiD</a:t>
            </a:r>
            <a:r>
              <a:rPr lang="en-US" dirty="0"/>
              <a:t>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4101B3-EAED-A046-6FAF-DAD82A6C4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650" y="3422650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BD45087-BAF4-22DA-B15C-022CF5250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-715963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C662E18-9A00-1D8F-CA9F-9AE8975D7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" y="-563563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DB3F9F5-9645-F311-E463-E4934EF58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911" y="2999679"/>
            <a:ext cx="9659477" cy="84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08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DAAB828-02C8-4111-AC14-FF5ACEDDF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0"/>
            <a:ext cx="8797955" cy="6858000"/>
          </a:xfrm>
          <a:custGeom>
            <a:avLst/>
            <a:gdLst>
              <a:gd name="connsiteX0" fmla="*/ 1951386 w 8751613"/>
              <a:gd name="connsiteY0" fmla="*/ 0 h 6858000"/>
              <a:gd name="connsiteX1" fmla="*/ 6808636 w 8751613"/>
              <a:gd name="connsiteY1" fmla="*/ 0 h 6858000"/>
              <a:gd name="connsiteX2" fmla="*/ 6972292 w 8751613"/>
              <a:gd name="connsiteY2" fmla="*/ 272824 h 6858000"/>
              <a:gd name="connsiteX3" fmla="*/ 8684358 w 8751613"/>
              <a:gd name="connsiteY3" fmla="*/ 3126935 h 6858000"/>
              <a:gd name="connsiteX4" fmla="*/ 8684358 w 8751613"/>
              <a:gd name="connsiteY4" fmla="*/ 3731065 h 6858000"/>
              <a:gd name="connsiteX5" fmla="*/ 6813619 w 8751613"/>
              <a:gd name="connsiteY5" fmla="*/ 6849692 h 6858000"/>
              <a:gd name="connsiteX6" fmla="*/ 6808636 w 8751613"/>
              <a:gd name="connsiteY6" fmla="*/ 6858000 h 6858000"/>
              <a:gd name="connsiteX7" fmla="*/ 1951386 w 8751613"/>
              <a:gd name="connsiteY7" fmla="*/ 6858000 h 6858000"/>
              <a:gd name="connsiteX8" fmla="*/ 1787729 w 8751613"/>
              <a:gd name="connsiteY8" fmla="*/ 6585176 h 6858000"/>
              <a:gd name="connsiteX9" fmla="*/ 75663 w 8751613"/>
              <a:gd name="connsiteY9" fmla="*/ 3731065 h 6858000"/>
              <a:gd name="connsiteX10" fmla="*/ 75663 w 8751613"/>
              <a:gd name="connsiteY10" fmla="*/ 3126935 h 6858000"/>
              <a:gd name="connsiteX11" fmla="*/ 1946402 w 8751613"/>
              <a:gd name="connsiteY11" fmla="*/ 83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51613" h="6858000">
                <a:moveTo>
                  <a:pt x="1951386" y="0"/>
                </a:moveTo>
                <a:lnTo>
                  <a:pt x="6808636" y="0"/>
                </a:lnTo>
                <a:lnTo>
                  <a:pt x="6972292" y="272824"/>
                </a:lnTo>
                <a:cubicBezTo>
                  <a:pt x="8684358" y="3126935"/>
                  <a:pt x="8684358" y="3126935"/>
                  <a:pt x="8684358" y="3126935"/>
                </a:cubicBezTo>
                <a:cubicBezTo>
                  <a:pt x="8774032" y="3299544"/>
                  <a:pt x="8774032" y="3558457"/>
                  <a:pt x="8684358" y="3731065"/>
                </a:cubicBezTo>
                <a:cubicBezTo>
                  <a:pt x="7154297" y="6281764"/>
                  <a:pt x="6867411" y="6760019"/>
                  <a:pt x="6813619" y="6849692"/>
                </a:cubicBezTo>
                <a:lnTo>
                  <a:pt x="6808636" y="6858000"/>
                </a:lnTo>
                <a:lnTo>
                  <a:pt x="1951386" y="6858000"/>
                </a:lnTo>
                <a:lnTo>
                  <a:pt x="1787729" y="6585176"/>
                </a:lnTo>
                <a:cubicBezTo>
                  <a:pt x="75663" y="3731065"/>
                  <a:pt x="75663" y="3731065"/>
                  <a:pt x="75663" y="3731065"/>
                </a:cubicBezTo>
                <a:cubicBezTo>
                  <a:pt x="-25220" y="3558457"/>
                  <a:pt x="-25220" y="3299544"/>
                  <a:pt x="75663" y="3126935"/>
                </a:cubicBezTo>
                <a:cubicBezTo>
                  <a:pt x="1605724" y="576237"/>
                  <a:pt x="1892611" y="97981"/>
                  <a:pt x="1946402" y="830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2D4553-E775-4F16-9A6F-FED8D166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00124"/>
            <a:chExt cx="1562267" cy="1172973"/>
          </a:xfrm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50F864A1-23CF-4954-887F-3C4458622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8D313E8C-7457-407E-BDA5-EACA44D38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1" name="Picture 30" descr="A screenshot of a paper&#10;&#10;AI-generated content may be incorrect.">
            <a:extLst>
              <a:ext uri="{FF2B5EF4-FFF2-40B4-BE49-F238E27FC236}">
                <a16:creationId xmlns:a16="http://schemas.microsoft.com/office/drawing/2014/main" id="{BD63408F-4361-B316-4753-87E241D83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929" y="356999"/>
            <a:ext cx="4587030" cy="6319366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542BF60-7250-69DC-3B30-143202058B78}"/>
              </a:ext>
            </a:extLst>
          </p:cNvPr>
          <p:cNvSpPr/>
          <p:nvPr/>
        </p:nvSpPr>
        <p:spPr>
          <a:xfrm>
            <a:off x="5999968" y="1482187"/>
            <a:ext cx="951978" cy="323257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28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45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Isosceles Triangle 153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graph showing the difference between the same model&#10;&#10;AI-generated content may be incorrect.">
            <a:extLst>
              <a:ext uri="{FF2B5EF4-FFF2-40B4-BE49-F238E27FC236}">
                <a16:creationId xmlns:a16="http://schemas.microsoft.com/office/drawing/2014/main" id="{1D061348-5A07-7385-DED7-66B1CDB2E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758" y="643467"/>
            <a:ext cx="9442484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1721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95FB8-02AC-E33C-00BC-87344724B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769D9-6E2A-90E9-E7E8-4E408015A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2 – Double Interaction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8B24F8-0ED9-2520-77FE-7CD0AE273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650" y="3422650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D567223-F611-F5F0-7C3B-094284B1F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-715963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F529414-B8C1-0AAD-5F5D-8C8EF5D3A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" y="-563563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C4F712B-D313-7C0B-2D58-EA1FC2540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73" y="3120908"/>
            <a:ext cx="11398154" cy="89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50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0" name="Picture 39" descr="A table of numbers and symbols&#10;&#10;AI-generated content may be incorrect.">
            <a:extLst>
              <a:ext uri="{FF2B5EF4-FFF2-40B4-BE49-F238E27FC236}">
                <a16:creationId xmlns:a16="http://schemas.microsoft.com/office/drawing/2014/main" id="{3E12832D-6BFF-C8CB-1203-6D700BF49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10" y="849099"/>
            <a:ext cx="8153876" cy="4795448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8E853F7C-665C-065B-4DE6-E1F15FEFFF09}"/>
              </a:ext>
            </a:extLst>
          </p:cNvPr>
          <p:cNvSpPr/>
          <p:nvPr/>
        </p:nvSpPr>
        <p:spPr>
          <a:xfrm>
            <a:off x="5298510" y="2154477"/>
            <a:ext cx="797490" cy="26578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BD63116-D0EE-5424-BF54-AE80ACC20081}"/>
              </a:ext>
            </a:extLst>
          </p:cNvPr>
          <p:cNvSpPr/>
          <p:nvPr/>
        </p:nvSpPr>
        <p:spPr>
          <a:xfrm>
            <a:off x="6237344" y="2154477"/>
            <a:ext cx="797490" cy="26578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4124465-2507-E280-E197-65F25E758BB9}"/>
              </a:ext>
            </a:extLst>
          </p:cNvPr>
          <p:cNvSpPr/>
          <p:nvPr/>
        </p:nvSpPr>
        <p:spPr>
          <a:xfrm>
            <a:off x="7176178" y="2154477"/>
            <a:ext cx="909158" cy="26578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98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graph showing the difference between pre and during&#10;&#10;AI-generated content may be incorrect.">
            <a:extLst>
              <a:ext uri="{FF2B5EF4-FFF2-40B4-BE49-F238E27FC236}">
                <a16:creationId xmlns:a16="http://schemas.microsoft.com/office/drawing/2014/main" id="{CB991F4D-A025-0E73-4AAA-E281468D2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940" y="643467"/>
            <a:ext cx="9904120" cy="5571065"/>
          </a:xfrm>
          <a:prstGeom prst="rect">
            <a:avLst/>
          </a:prstGeom>
          <a:ln>
            <a:noFill/>
          </a:ln>
        </p:spPr>
      </p:pic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81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C618A-24AA-F834-351F-4DC0CB25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3: Determining Propensity Scores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AB7B98-5920-B27C-25E4-85CC624C9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77" y="3027801"/>
            <a:ext cx="11203846" cy="8023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9CCA21-0D7F-6BFA-1E18-B98F1B463546}"/>
              </a:ext>
            </a:extLst>
          </p:cNvPr>
          <p:cNvSpPr txBox="1"/>
          <p:nvPr/>
        </p:nvSpPr>
        <p:spPr>
          <a:xfrm>
            <a:off x="2235231" y="6308209"/>
            <a:ext cx="7760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Where:  </a:t>
            </a:r>
            <a:r>
              <a:rPr lang="en-US" dirty="0" err="1"/>
              <a:t>Pr</a:t>
            </a:r>
            <a:r>
              <a:rPr lang="en-US" dirty="0"/>
              <a:t>(</a:t>
            </a:r>
            <a:r>
              <a:rPr lang="en-US" dirty="0" err="1"/>
              <a:t>Treated</a:t>
            </a:r>
            <a:r>
              <a:rPr lang="en-US" baseline="-25000" dirty="0" err="1"/>
              <a:t>s</a:t>
            </a:r>
            <a:r>
              <a:rPr lang="en-US" dirty="0"/>
              <a:t> = 1) represents the estimated propensity score for state </a:t>
            </a:r>
            <a:r>
              <a:rPr lang="en-US" i="1" dirty="0"/>
              <a:t>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124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D9D9-F7CE-4600-1381-A554A097A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3: Defining the Weights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BA1AF9-D523-37C0-1C60-49B8040AF869}"/>
              </a:ext>
            </a:extLst>
          </p:cNvPr>
          <p:cNvSpPr txBox="1"/>
          <p:nvPr/>
        </p:nvSpPr>
        <p:spPr>
          <a:xfrm>
            <a:off x="3095740" y="6297192"/>
            <a:ext cx="6418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Where: </a:t>
            </a:r>
            <a:r>
              <a:rPr lang="en-US" dirty="0" err="1"/>
              <a:t>p</a:t>
            </a:r>
            <a:r>
              <a:rPr lang="en-US" baseline="-25000" dirty="0" err="1"/>
              <a:t>s</a:t>
            </a:r>
            <a:r>
              <a:rPr lang="en-US" dirty="0"/>
              <a:t> represents the estimated propensity score for state </a:t>
            </a:r>
            <a:r>
              <a:rPr lang="en-US" i="1" dirty="0"/>
              <a:t>s</a:t>
            </a:r>
            <a:endParaRPr lang="en-US" dirty="0"/>
          </a:p>
        </p:txBody>
      </p:sp>
      <p:pic>
        <p:nvPicPr>
          <p:cNvPr id="8" name="Picture 7" descr="A math equations with numbers and symbols&#10;&#10;AI-generated content may be incorrect.">
            <a:extLst>
              <a:ext uri="{FF2B5EF4-FFF2-40B4-BE49-F238E27FC236}">
                <a16:creationId xmlns:a16="http://schemas.microsoft.com/office/drawing/2014/main" id="{EEB6BC29-A9F3-6017-37B9-CB720B6A5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642" y="2195817"/>
            <a:ext cx="7940716" cy="324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074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AAB828-02C8-4111-AC14-FF5ACEDDF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0"/>
            <a:ext cx="8797955" cy="6858000"/>
          </a:xfrm>
          <a:custGeom>
            <a:avLst/>
            <a:gdLst>
              <a:gd name="connsiteX0" fmla="*/ 1951386 w 8751613"/>
              <a:gd name="connsiteY0" fmla="*/ 0 h 6858000"/>
              <a:gd name="connsiteX1" fmla="*/ 6808636 w 8751613"/>
              <a:gd name="connsiteY1" fmla="*/ 0 h 6858000"/>
              <a:gd name="connsiteX2" fmla="*/ 6972292 w 8751613"/>
              <a:gd name="connsiteY2" fmla="*/ 272824 h 6858000"/>
              <a:gd name="connsiteX3" fmla="*/ 8684358 w 8751613"/>
              <a:gd name="connsiteY3" fmla="*/ 3126935 h 6858000"/>
              <a:gd name="connsiteX4" fmla="*/ 8684358 w 8751613"/>
              <a:gd name="connsiteY4" fmla="*/ 3731065 h 6858000"/>
              <a:gd name="connsiteX5" fmla="*/ 6813619 w 8751613"/>
              <a:gd name="connsiteY5" fmla="*/ 6849692 h 6858000"/>
              <a:gd name="connsiteX6" fmla="*/ 6808636 w 8751613"/>
              <a:gd name="connsiteY6" fmla="*/ 6858000 h 6858000"/>
              <a:gd name="connsiteX7" fmla="*/ 1951386 w 8751613"/>
              <a:gd name="connsiteY7" fmla="*/ 6858000 h 6858000"/>
              <a:gd name="connsiteX8" fmla="*/ 1787729 w 8751613"/>
              <a:gd name="connsiteY8" fmla="*/ 6585176 h 6858000"/>
              <a:gd name="connsiteX9" fmla="*/ 75663 w 8751613"/>
              <a:gd name="connsiteY9" fmla="*/ 3731065 h 6858000"/>
              <a:gd name="connsiteX10" fmla="*/ 75663 w 8751613"/>
              <a:gd name="connsiteY10" fmla="*/ 3126935 h 6858000"/>
              <a:gd name="connsiteX11" fmla="*/ 1946402 w 8751613"/>
              <a:gd name="connsiteY11" fmla="*/ 83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51613" h="6858000">
                <a:moveTo>
                  <a:pt x="1951386" y="0"/>
                </a:moveTo>
                <a:lnTo>
                  <a:pt x="6808636" y="0"/>
                </a:lnTo>
                <a:lnTo>
                  <a:pt x="6972292" y="272824"/>
                </a:lnTo>
                <a:cubicBezTo>
                  <a:pt x="8684358" y="3126935"/>
                  <a:pt x="8684358" y="3126935"/>
                  <a:pt x="8684358" y="3126935"/>
                </a:cubicBezTo>
                <a:cubicBezTo>
                  <a:pt x="8774032" y="3299544"/>
                  <a:pt x="8774032" y="3558457"/>
                  <a:pt x="8684358" y="3731065"/>
                </a:cubicBezTo>
                <a:cubicBezTo>
                  <a:pt x="7154297" y="6281764"/>
                  <a:pt x="6867411" y="6760019"/>
                  <a:pt x="6813619" y="6849692"/>
                </a:cubicBezTo>
                <a:lnTo>
                  <a:pt x="6808636" y="6858000"/>
                </a:lnTo>
                <a:lnTo>
                  <a:pt x="1951386" y="6858000"/>
                </a:lnTo>
                <a:lnTo>
                  <a:pt x="1787729" y="6585176"/>
                </a:lnTo>
                <a:cubicBezTo>
                  <a:pt x="75663" y="3731065"/>
                  <a:pt x="75663" y="3731065"/>
                  <a:pt x="75663" y="3731065"/>
                </a:cubicBezTo>
                <a:cubicBezTo>
                  <a:pt x="-25220" y="3558457"/>
                  <a:pt x="-25220" y="3299544"/>
                  <a:pt x="75663" y="3126935"/>
                </a:cubicBezTo>
                <a:cubicBezTo>
                  <a:pt x="1605724" y="576237"/>
                  <a:pt x="1892611" y="97981"/>
                  <a:pt x="1946402" y="830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2D4553-E775-4F16-9A6F-FED8D166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00124"/>
            <a:chExt cx="1562267" cy="1172973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50F864A1-23CF-4954-887F-3C4458622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8D313E8C-7457-407E-BDA5-EACA44D38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7" name="Picture 16" descr="A table of numbers and symbols&#10;&#10;AI-generated content may be incorrect.">
            <a:extLst>
              <a:ext uri="{FF2B5EF4-FFF2-40B4-BE49-F238E27FC236}">
                <a16:creationId xmlns:a16="http://schemas.microsoft.com/office/drawing/2014/main" id="{7E1B1826-71EC-3D62-9E45-D0B818A25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856" y="452584"/>
            <a:ext cx="5277104" cy="595283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CAB9FCB-0CA5-78BD-7675-148A3638A759}"/>
              </a:ext>
            </a:extLst>
          </p:cNvPr>
          <p:cNvSpPr/>
          <p:nvPr/>
        </p:nvSpPr>
        <p:spPr>
          <a:xfrm>
            <a:off x="5110619" y="1378876"/>
            <a:ext cx="2167003" cy="323257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0664F-9682-15F3-EBF0-FC5392AC9C9F}"/>
              </a:ext>
            </a:extLst>
          </p:cNvPr>
          <p:cNvSpPr/>
          <p:nvPr/>
        </p:nvSpPr>
        <p:spPr>
          <a:xfrm>
            <a:off x="6413326" y="2116899"/>
            <a:ext cx="864296" cy="288098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6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Freeform: Shape 1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reeform: Shape 1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0" name="Isosceles Triangle 1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B67DA566-F3D1-DC3A-3546-91822465A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969" y="643467"/>
            <a:ext cx="9564062" cy="5571065"/>
          </a:xfrm>
          <a:prstGeom prst="rect">
            <a:avLst/>
          </a:prstGeom>
          <a:ln>
            <a:noFill/>
          </a:ln>
        </p:spPr>
      </p:pic>
      <p:sp>
        <p:nvSpPr>
          <p:cNvPr id="122" name="Isosceles Triangle 1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42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32D18-E6D6-5B31-DC7D-E7313AF6E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4: Calculating State Deviation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0D7DFE4-0FFD-8877-FF2A-C8B0F11FF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851" y="1690688"/>
            <a:ext cx="6512298" cy="1515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6C79FA-BC05-2A9E-FCC4-70DF418D0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850" y="5167312"/>
            <a:ext cx="6512298" cy="694645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4EDE9BA9-5548-81B0-5A93-1775431B3FBD}"/>
              </a:ext>
            </a:extLst>
          </p:cNvPr>
          <p:cNvSpPr/>
          <p:nvPr/>
        </p:nvSpPr>
        <p:spPr>
          <a:xfrm>
            <a:off x="5720516" y="3539663"/>
            <a:ext cx="750968" cy="1311469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84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6FD60DBF-1E18-B723-C662-241BEB249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565" y="643467"/>
            <a:ext cx="9646870" cy="5571065"/>
          </a:xfrm>
          <a:prstGeom prst="rect">
            <a:avLst/>
          </a:prstGeom>
          <a:ln>
            <a:noFill/>
          </a:ln>
        </p:spPr>
      </p:pic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87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DD54BF-69D7-C49E-D41F-A3A305B5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graph of a treatment&#10;&#10;AI-generated content may be incorrect.">
            <a:extLst>
              <a:ext uri="{FF2B5EF4-FFF2-40B4-BE49-F238E27FC236}">
                <a16:creationId xmlns:a16="http://schemas.microsoft.com/office/drawing/2014/main" id="{C083ADC7-D37F-5CB2-2253-C8D3E2C78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298" y="643468"/>
            <a:ext cx="905864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844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 descr="A graph of a patient's level&#10;&#10;AI-generated content may be incorrect.">
            <a:extLst>
              <a:ext uri="{FF2B5EF4-FFF2-40B4-BE49-F238E27FC236}">
                <a16:creationId xmlns:a16="http://schemas.microsoft.com/office/drawing/2014/main" id="{8633BE7E-EFE2-9570-D9F7-903270957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174" y="643468"/>
            <a:ext cx="913289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927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915C47-273C-A40B-1951-4F3BB062E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Conclusion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DA498-0BAE-D23F-B3AF-256902A73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Treatment Effect is Delayed and Minor</a:t>
            </a:r>
          </a:p>
        </p:txBody>
      </p:sp>
    </p:spTree>
    <p:extLst>
      <p:ext uri="{BB962C8B-B14F-4D97-AF65-F5344CB8AC3E}">
        <p14:creationId xmlns:p14="http://schemas.microsoft.com/office/powerpoint/2010/main" val="3862453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A4902A-B1B9-0947-E747-38DFE5CDE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9078-CC1A-61E9-1387-3DA65B251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State Average Data: </a:t>
            </a:r>
          </a:p>
          <a:p>
            <a:pPr lvl="1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Missing Industry-Specific Trends</a:t>
            </a: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Delayed Treatment Effect:</a:t>
            </a:r>
          </a:p>
          <a:p>
            <a:pPr lvl="1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Lack of Observations for Many Treated States at T&gt;6</a:t>
            </a:r>
          </a:p>
          <a:p>
            <a:pPr lvl="1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True Long Run Effects still unknown</a:t>
            </a:r>
          </a:p>
        </p:txBody>
      </p:sp>
    </p:spTree>
    <p:extLst>
      <p:ext uri="{BB962C8B-B14F-4D97-AF65-F5344CB8AC3E}">
        <p14:creationId xmlns:p14="http://schemas.microsoft.com/office/powerpoint/2010/main" val="42700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0A89E4D-2A12-7E3C-B9F8-8EFB4047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055098"/>
            <a:ext cx="5760719" cy="47478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386267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22612</TotalTime>
  <Words>868</Words>
  <Application>Microsoft Macintosh PowerPoint</Application>
  <PresentationFormat>Widescreen</PresentationFormat>
  <Paragraphs>91</Paragraphs>
  <Slides>24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Recreational Marijuana and State-Level Employment Rates</vt:lpstr>
      <vt:lpstr>Existing Literature</vt:lpstr>
      <vt:lpstr>Guiding Question</vt:lpstr>
      <vt:lpstr>Methodology</vt:lpstr>
      <vt:lpstr>What is Difference-in-Differences?</vt:lpstr>
      <vt:lpstr>PowerPoint Presentation</vt:lpstr>
      <vt:lpstr>The Data:</vt:lpstr>
      <vt:lpstr>Model 1- State-Year Fixed Effects (DiD)</vt:lpstr>
      <vt:lpstr>PowerPoint Presentation</vt:lpstr>
      <vt:lpstr>PowerPoint Presentation</vt:lpstr>
      <vt:lpstr>Model 2 – Double Interaction</vt:lpstr>
      <vt:lpstr>PowerPoint Presentation</vt:lpstr>
      <vt:lpstr>PowerPoint Presentation</vt:lpstr>
      <vt:lpstr>Model 3: Determining Propensity Scores</vt:lpstr>
      <vt:lpstr>Model 3: Defining the Weights</vt:lpstr>
      <vt:lpstr>PowerPoint Presentation</vt:lpstr>
      <vt:lpstr>PowerPoint Presentation</vt:lpstr>
      <vt:lpstr>Model 4: Calculating State Deviation</vt:lpstr>
      <vt:lpstr>PowerPoint Presentation</vt:lpstr>
      <vt:lpstr>PowerPoint Presentation</vt:lpstr>
      <vt:lpstr>PowerPoint Presentation</vt:lpstr>
      <vt:lpstr>Conclusion</vt:lpstr>
      <vt:lpstr>Limitations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J. Reece</dc:creator>
  <cp:lastModifiedBy>Oliver J. Reece</cp:lastModifiedBy>
  <cp:revision>9</cp:revision>
  <dcterms:created xsi:type="dcterms:W3CDTF">2026-03-03T20:48:42Z</dcterms:created>
  <dcterms:modified xsi:type="dcterms:W3CDTF">2026-04-17T16:06:35Z</dcterms:modified>
</cp:coreProperties>
</file>