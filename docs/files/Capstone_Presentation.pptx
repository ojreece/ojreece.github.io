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58" r:id="rId3"/>
    <p:sldId id="259" r:id="rId4"/>
    <p:sldId id="269" r:id="rId5"/>
    <p:sldId id="270" r:id="rId6"/>
    <p:sldId id="260" r:id="rId7"/>
    <p:sldId id="272" r:id="rId8"/>
    <p:sldId id="261" r:id="rId9"/>
    <p:sldId id="273" r:id="rId10"/>
    <p:sldId id="264" r:id="rId11"/>
    <p:sldId id="271"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82030"/>
  </p:normalViewPr>
  <p:slideViewPr>
    <p:cSldViewPr snapToGrid="0">
      <p:cViewPr varScale="1">
        <p:scale>
          <a:sx n="103" d="100"/>
          <a:sy n="103" d="100"/>
        </p:scale>
        <p:origin x="8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CE468-2234-BA40-ABC6-4189C0233418}" type="datetimeFigureOut">
              <a:rPr lang="en-US" smtClean="0"/>
              <a:t>3/5/26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EA163-0B8B-8640-B46C-D04DA4496B05}" type="slidenum">
              <a:rPr lang="en-US" smtClean="0"/>
              <a:t>‹#›</a:t>
            </a:fld>
            <a:endParaRPr lang="en-US"/>
          </a:p>
        </p:txBody>
      </p:sp>
    </p:spTree>
    <p:extLst>
      <p:ext uri="{BB962C8B-B14F-4D97-AF65-F5344CB8AC3E}">
        <p14:creationId xmlns:p14="http://schemas.microsoft.com/office/powerpoint/2010/main" val="190965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6EA163-0B8B-8640-B46C-D04DA4496B05}" type="slidenum">
              <a:rPr lang="en-US" smtClean="0"/>
              <a:t>3</a:t>
            </a:fld>
            <a:endParaRPr lang="en-US"/>
          </a:p>
        </p:txBody>
      </p:sp>
    </p:spTree>
    <p:extLst>
      <p:ext uri="{BB962C8B-B14F-4D97-AF65-F5344CB8AC3E}">
        <p14:creationId xmlns:p14="http://schemas.microsoft.com/office/powerpoint/2010/main" val="2128808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6EA163-0B8B-8640-B46C-D04DA4496B05}" type="slidenum">
              <a:rPr lang="en-US" smtClean="0"/>
              <a:t>7</a:t>
            </a:fld>
            <a:endParaRPr lang="en-US"/>
          </a:p>
        </p:txBody>
      </p:sp>
    </p:spTree>
    <p:extLst>
      <p:ext uri="{BB962C8B-B14F-4D97-AF65-F5344CB8AC3E}">
        <p14:creationId xmlns:p14="http://schemas.microsoft.com/office/powerpoint/2010/main" val="4035072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as soon as we account for variables outside of treatment, we see next to no effect. This means that while employment did increase, it most likely did not do so as a result of legalizing marijuana.</a:t>
            </a:r>
          </a:p>
        </p:txBody>
      </p:sp>
      <p:sp>
        <p:nvSpPr>
          <p:cNvPr id="4" name="Slide Number Placeholder 3"/>
          <p:cNvSpPr>
            <a:spLocks noGrp="1"/>
          </p:cNvSpPr>
          <p:nvPr>
            <p:ph type="sldNum" sz="quarter" idx="5"/>
          </p:nvPr>
        </p:nvSpPr>
        <p:spPr/>
        <p:txBody>
          <a:bodyPr/>
          <a:lstStyle/>
          <a:p>
            <a:fld id="{6C6EA163-0B8B-8640-B46C-D04DA4496B05}" type="slidenum">
              <a:rPr lang="en-US" smtClean="0"/>
              <a:t>8</a:t>
            </a:fld>
            <a:endParaRPr lang="en-US"/>
          </a:p>
        </p:txBody>
      </p:sp>
    </p:spTree>
    <p:extLst>
      <p:ext uri="{BB962C8B-B14F-4D97-AF65-F5344CB8AC3E}">
        <p14:creationId xmlns:p14="http://schemas.microsoft.com/office/powerpoint/2010/main" val="439522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1E18B-EEA9-30E1-1A9F-5597A49E4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ECD79-AADD-9D8D-B346-840F9B1A4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A8014-841E-F635-CE41-171369D8C9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43BAD4-3FAD-4D2A-C563-4C359FDD4195}"/>
              </a:ext>
            </a:extLst>
          </p:cNvPr>
          <p:cNvSpPr>
            <a:spLocks noGrp="1"/>
          </p:cNvSpPr>
          <p:nvPr>
            <p:ph type="sldNum" sz="quarter" idx="5"/>
          </p:nvPr>
        </p:nvSpPr>
        <p:spPr/>
        <p:txBody>
          <a:bodyPr/>
          <a:lstStyle/>
          <a:p>
            <a:fld id="{6C6EA163-0B8B-8640-B46C-D04DA4496B05}" type="slidenum">
              <a:rPr lang="en-US" smtClean="0"/>
              <a:t>9</a:t>
            </a:fld>
            <a:endParaRPr lang="en-US"/>
          </a:p>
        </p:txBody>
      </p:sp>
    </p:spTree>
    <p:extLst>
      <p:ext uri="{BB962C8B-B14F-4D97-AF65-F5344CB8AC3E}">
        <p14:creationId xmlns:p14="http://schemas.microsoft.com/office/powerpoint/2010/main" val="4213190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SE: appears to be horrendous but remember we are looking at hundreds of thousands of people</a:t>
            </a:r>
          </a:p>
          <a:p>
            <a:br>
              <a:rPr lang="en-US" dirty="0"/>
            </a:br>
            <a:r>
              <a:rPr lang="en-US" dirty="0"/>
              <a:t>Note: </a:t>
            </a:r>
            <a:r>
              <a:rPr lang="en-US" dirty="0" err="1"/>
              <a:t>Standardising</a:t>
            </a:r>
            <a:r>
              <a:rPr lang="en-US" dirty="0"/>
              <a:t> with z-scores does not change these results</a:t>
            </a:r>
            <a:br>
              <a:rPr lang="en-US" dirty="0"/>
            </a:br>
            <a:br>
              <a:rPr lang="en-US" dirty="0"/>
            </a:br>
            <a:r>
              <a:rPr lang="en-US" dirty="0"/>
              <a:t>Note: I looked at zooming into just some specific years, but due to the “turning off” of the treatment, the number of states with an active treatment fluctuates</a:t>
            </a:r>
          </a:p>
          <a:p>
            <a:endParaRPr lang="en-US" dirty="0"/>
          </a:p>
          <a:p>
            <a:r>
              <a:rPr lang="en-US" dirty="0"/>
              <a:t>Good that there is no real effect pre and post. Not good that we see little effect during. Lets look at an event study to look into this further.</a:t>
            </a:r>
          </a:p>
        </p:txBody>
      </p:sp>
      <p:sp>
        <p:nvSpPr>
          <p:cNvPr id="4" name="Slide Number Placeholder 3"/>
          <p:cNvSpPr>
            <a:spLocks noGrp="1"/>
          </p:cNvSpPr>
          <p:nvPr>
            <p:ph type="sldNum" sz="quarter" idx="5"/>
          </p:nvPr>
        </p:nvSpPr>
        <p:spPr/>
        <p:txBody>
          <a:bodyPr/>
          <a:lstStyle/>
          <a:p>
            <a:fld id="{6C6EA163-0B8B-8640-B46C-D04DA4496B05}" type="slidenum">
              <a:rPr lang="en-US" smtClean="0"/>
              <a:t>10</a:t>
            </a:fld>
            <a:endParaRPr lang="en-US"/>
          </a:p>
        </p:txBody>
      </p:sp>
    </p:spTree>
    <p:extLst>
      <p:ext uri="{BB962C8B-B14F-4D97-AF65-F5344CB8AC3E}">
        <p14:creationId xmlns:p14="http://schemas.microsoft.com/office/powerpoint/2010/main" val="747510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effects, but still some positive</a:t>
            </a:r>
          </a:p>
          <a:p>
            <a:endParaRPr lang="en-US" dirty="0"/>
          </a:p>
          <a:p>
            <a:r>
              <a:rPr lang="en-US" dirty="0"/>
              <a:t>Why is this messed up? I’m working on it, tried asking AI for help, broke it further.</a:t>
            </a:r>
          </a:p>
        </p:txBody>
      </p:sp>
      <p:sp>
        <p:nvSpPr>
          <p:cNvPr id="4" name="Slide Number Placeholder 3"/>
          <p:cNvSpPr>
            <a:spLocks noGrp="1"/>
          </p:cNvSpPr>
          <p:nvPr>
            <p:ph type="sldNum" sz="quarter" idx="5"/>
          </p:nvPr>
        </p:nvSpPr>
        <p:spPr/>
        <p:txBody>
          <a:bodyPr/>
          <a:lstStyle/>
          <a:p>
            <a:fld id="{6C6EA163-0B8B-8640-B46C-D04DA4496B05}" type="slidenum">
              <a:rPr lang="en-US" smtClean="0"/>
              <a:t>11</a:t>
            </a:fld>
            <a:endParaRPr lang="en-US"/>
          </a:p>
        </p:txBody>
      </p:sp>
    </p:spTree>
    <p:extLst>
      <p:ext uri="{BB962C8B-B14F-4D97-AF65-F5344CB8AC3E}">
        <p14:creationId xmlns:p14="http://schemas.microsoft.com/office/powerpoint/2010/main" val="573529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we saw an increase in employment, this is most likely due to other factors outside of </a:t>
            </a:r>
            <a:r>
              <a:rPr lang="en-US" dirty="0" err="1"/>
              <a:t>legalisation</a:t>
            </a:r>
            <a:r>
              <a:rPr lang="en-US" dirty="0"/>
              <a:t> policy. Can’t know for sure because so little data post-treatment year for a lot of the states. </a:t>
            </a:r>
            <a:br>
              <a:rPr lang="en-US" dirty="0"/>
            </a:br>
            <a:br>
              <a:rPr lang="en-US" dirty="0"/>
            </a:br>
            <a:r>
              <a:rPr lang="en-US" dirty="0"/>
              <a:t>Further Investigation might include:</a:t>
            </a:r>
          </a:p>
          <a:p>
            <a:r>
              <a:rPr lang="en-US" dirty="0"/>
              <a:t>comparing to other countries that have legal recreational marijuana. </a:t>
            </a:r>
          </a:p>
          <a:p>
            <a:r>
              <a:rPr lang="en-US" dirty="0"/>
              <a:t>Maybe implement 2 treatments: one for when medical marijuana was </a:t>
            </a:r>
            <a:r>
              <a:rPr lang="en-US" dirty="0" err="1"/>
              <a:t>legalised</a:t>
            </a:r>
            <a:r>
              <a:rPr lang="en-US" dirty="0"/>
              <a:t> in a state, one for recreational</a:t>
            </a:r>
          </a:p>
          <a:p>
            <a:r>
              <a:rPr lang="en-US" dirty="0"/>
              <a:t>Explore differences between industries</a:t>
            </a:r>
          </a:p>
        </p:txBody>
      </p:sp>
      <p:sp>
        <p:nvSpPr>
          <p:cNvPr id="4" name="Slide Number Placeholder 3"/>
          <p:cNvSpPr>
            <a:spLocks noGrp="1"/>
          </p:cNvSpPr>
          <p:nvPr>
            <p:ph type="sldNum" sz="quarter" idx="5"/>
          </p:nvPr>
        </p:nvSpPr>
        <p:spPr/>
        <p:txBody>
          <a:bodyPr/>
          <a:lstStyle/>
          <a:p>
            <a:fld id="{6C6EA163-0B8B-8640-B46C-D04DA4496B05}" type="slidenum">
              <a:rPr lang="en-US" smtClean="0"/>
              <a:t>13</a:t>
            </a:fld>
            <a:endParaRPr lang="en-US"/>
          </a:p>
        </p:txBody>
      </p:sp>
    </p:spTree>
    <p:extLst>
      <p:ext uri="{BB962C8B-B14F-4D97-AF65-F5344CB8AC3E}">
        <p14:creationId xmlns:p14="http://schemas.microsoft.com/office/powerpoint/2010/main" val="2508435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CE312D-FDD5-1149-A362-2F8BD8D27B64}" type="datetimeFigureOut">
              <a:rPr lang="en-US" smtClean="0"/>
              <a:t>3/3/26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108361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CE312D-FDD5-1149-A362-2F8BD8D27B64}" type="datetimeFigureOut">
              <a:rPr lang="en-US" smtClean="0"/>
              <a:t>3/3/26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3000639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CE312D-FDD5-1149-A362-2F8BD8D27B64}" type="datetimeFigureOut">
              <a:rPr lang="en-US" smtClean="0"/>
              <a:t>3/3/26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714582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CE312D-FDD5-1149-A362-2F8BD8D27B64}" type="datetimeFigureOut">
              <a:rPr lang="en-US" smtClean="0"/>
              <a:t>3/3/26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333124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CE312D-FDD5-1149-A362-2F8BD8D27B64}" type="datetimeFigureOut">
              <a:rPr lang="en-US" smtClean="0"/>
              <a:t>3/3/26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401095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CE312D-FDD5-1149-A362-2F8BD8D27B64}" type="datetimeFigureOut">
              <a:rPr lang="en-US" smtClean="0"/>
              <a:t>3/3/26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2766807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CE312D-FDD5-1149-A362-2F8BD8D27B64}" type="datetimeFigureOut">
              <a:rPr lang="en-US" smtClean="0"/>
              <a:t>3/3/26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363152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CE312D-FDD5-1149-A362-2F8BD8D27B64}" type="datetimeFigureOut">
              <a:rPr lang="en-US" smtClean="0"/>
              <a:t>3/3/26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3248800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CE312D-FDD5-1149-A362-2F8BD8D27B64}" type="datetimeFigureOut">
              <a:rPr lang="en-US" smtClean="0"/>
              <a:t>3/3/26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1130897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CE312D-FDD5-1149-A362-2F8BD8D27B64}" type="datetimeFigureOut">
              <a:rPr lang="en-US" smtClean="0"/>
              <a:t>3/3/26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144754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CE312D-FDD5-1149-A362-2F8BD8D27B64}" type="datetimeFigureOut">
              <a:rPr lang="en-US" smtClean="0"/>
              <a:t>3/3/26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292F0-8149-4345-B867-2DC5C663F565}" type="slidenum">
              <a:rPr lang="en-US" smtClean="0"/>
              <a:t>‹#›</a:t>
            </a:fld>
            <a:endParaRPr lang="en-US"/>
          </a:p>
        </p:txBody>
      </p:sp>
    </p:spTree>
    <p:extLst>
      <p:ext uri="{BB962C8B-B14F-4D97-AF65-F5344CB8AC3E}">
        <p14:creationId xmlns:p14="http://schemas.microsoft.com/office/powerpoint/2010/main" val="1070361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E8CE312D-FDD5-1149-A362-2F8BD8D27B64}" type="datetimeFigureOut">
              <a:rPr lang="en-US" smtClean="0"/>
              <a:t>3/3/26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3A2292F0-8149-4345-B867-2DC5C663F565}" type="slidenum">
              <a:rPr lang="en-US" smtClean="0"/>
              <a:t>‹#›</a:t>
            </a:fld>
            <a:endParaRPr lang="en-US"/>
          </a:p>
        </p:txBody>
      </p:sp>
    </p:spTree>
    <p:extLst>
      <p:ext uri="{BB962C8B-B14F-4D97-AF65-F5344CB8AC3E}">
        <p14:creationId xmlns:p14="http://schemas.microsoft.com/office/powerpoint/2010/main" val="42433831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7CE9434C-D6C0-32D4-020E-6D94EDCD5067}"/>
              </a:ext>
            </a:extLst>
          </p:cNvPr>
          <p:cNvSpPr>
            <a:spLocks noGrp="1"/>
          </p:cNvSpPr>
          <p:nvPr>
            <p:ph type="ctrTitle"/>
          </p:nvPr>
        </p:nvSpPr>
        <p:spPr>
          <a:xfrm>
            <a:off x="1930400" y="1074057"/>
            <a:ext cx="8701049" cy="2923375"/>
          </a:xfrm>
        </p:spPr>
        <p:txBody>
          <a:bodyPr anchor="b">
            <a:normAutofit/>
          </a:bodyPr>
          <a:lstStyle/>
          <a:p>
            <a:r>
              <a:rPr lang="en-US" sz="4000" dirty="0">
                <a:solidFill>
                  <a:schemeClr val="tx2"/>
                </a:solidFill>
              </a:rPr>
              <a:t>Recreational Marijuana and State-Level Employment Rates</a:t>
            </a:r>
          </a:p>
        </p:txBody>
      </p:sp>
      <p:sp>
        <p:nvSpPr>
          <p:cNvPr id="3" name="Subtitle 2">
            <a:extLst>
              <a:ext uri="{FF2B5EF4-FFF2-40B4-BE49-F238E27FC236}">
                <a16:creationId xmlns:a16="http://schemas.microsoft.com/office/drawing/2014/main" id="{6D458245-24FA-9F02-BE3E-5E58E1EAB1DA}"/>
              </a:ext>
            </a:extLst>
          </p:cNvPr>
          <p:cNvSpPr>
            <a:spLocks noGrp="1"/>
          </p:cNvSpPr>
          <p:nvPr>
            <p:ph type="subTitle" idx="1"/>
          </p:nvPr>
        </p:nvSpPr>
        <p:spPr>
          <a:xfrm>
            <a:off x="3502135" y="4001587"/>
            <a:ext cx="5188034" cy="682079"/>
          </a:xfrm>
        </p:spPr>
        <p:txBody>
          <a:bodyPr>
            <a:normAutofit/>
          </a:bodyPr>
          <a:lstStyle/>
          <a:p>
            <a:r>
              <a:rPr lang="en-US">
                <a:solidFill>
                  <a:schemeClr val="tx2"/>
                </a:solidFill>
              </a:rPr>
              <a:t>Oliver Reece</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69256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A925-B16C-13AD-C62C-D6FC47D57F44}"/>
              </a:ext>
            </a:extLst>
          </p:cNvPr>
          <p:cNvSpPr>
            <a:spLocks noGrp="1"/>
          </p:cNvSpPr>
          <p:nvPr>
            <p:ph type="title"/>
          </p:nvPr>
        </p:nvSpPr>
        <p:spPr/>
        <p:txBody>
          <a:bodyPr/>
          <a:lstStyle/>
          <a:p>
            <a:r>
              <a:rPr lang="en-US" dirty="0"/>
              <a:t>Existing Literature</a:t>
            </a:r>
          </a:p>
        </p:txBody>
      </p:sp>
      <p:sp>
        <p:nvSpPr>
          <p:cNvPr id="3" name="Content Placeholder 2">
            <a:extLst>
              <a:ext uri="{FF2B5EF4-FFF2-40B4-BE49-F238E27FC236}">
                <a16:creationId xmlns:a16="http://schemas.microsoft.com/office/drawing/2014/main" id="{34CE0879-F876-3339-DFD0-8CCA70DAC2CD}"/>
              </a:ext>
            </a:extLst>
          </p:cNvPr>
          <p:cNvSpPr>
            <a:spLocks noGrp="1"/>
          </p:cNvSpPr>
          <p:nvPr>
            <p:ph idx="1"/>
          </p:nvPr>
        </p:nvSpPr>
        <p:spPr/>
        <p:txBody>
          <a:bodyPr>
            <a:normAutofit fontScale="92500" lnSpcReduction="20000"/>
          </a:bodyPr>
          <a:lstStyle/>
          <a:p>
            <a:r>
              <a:rPr lang="en-US" i="1" dirty="0"/>
              <a:t>“The Green Wave: Effects of Legal Marijuana on The Labor Markets.” - </a:t>
            </a:r>
            <a:r>
              <a:rPr lang="en-US" sz="2600" dirty="0"/>
              <a:t>Sara Varon</a:t>
            </a:r>
          </a:p>
          <a:p>
            <a:pPr lvl="1" fontAlgn="base"/>
            <a:r>
              <a:rPr lang="en-US" dirty="0">
                <a:solidFill>
                  <a:schemeClr val="accent6">
                    <a:lumMod val="75000"/>
                  </a:schemeClr>
                </a:solidFill>
              </a:rPr>
              <a:t>Positive Impact on Wages and Employment Levels</a:t>
            </a:r>
          </a:p>
          <a:p>
            <a:pPr lvl="2" fontAlgn="base"/>
            <a:r>
              <a:rPr lang="en-US" dirty="0">
                <a:solidFill>
                  <a:schemeClr val="accent6">
                    <a:lumMod val="75000"/>
                  </a:schemeClr>
                </a:solidFill>
              </a:rPr>
              <a:t>For Marijuana-Related Industry Only</a:t>
            </a:r>
          </a:p>
          <a:p>
            <a:endParaRPr lang="en-US" dirty="0"/>
          </a:p>
          <a:p>
            <a:r>
              <a:rPr lang="en-US" i="1" dirty="0"/>
              <a:t>“The Impact of Recreational Cannabis Legalization on Cannabis Use and Associated Outcomes: A Systematic Review” </a:t>
            </a:r>
            <a:r>
              <a:rPr lang="en-US" dirty="0"/>
              <a:t>- </a:t>
            </a:r>
            <a:r>
              <a:rPr lang="en-US" sz="2600" dirty="0"/>
              <a:t>James MacKillop</a:t>
            </a:r>
          </a:p>
          <a:p>
            <a:pPr lvl="1" fontAlgn="base"/>
            <a:r>
              <a:rPr lang="en-US" dirty="0">
                <a:solidFill>
                  <a:schemeClr val="accent6">
                    <a:lumMod val="75000"/>
                  </a:schemeClr>
                </a:solidFill>
              </a:rPr>
              <a:t>Inconsistent Effects of Recreational Cannabis </a:t>
            </a:r>
            <a:r>
              <a:rPr lang="en-US" dirty="0" err="1">
                <a:solidFill>
                  <a:schemeClr val="accent6">
                    <a:lumMod val="75000"/>
                  </a:schemeClr>
                </a:solidFill>
              </a:rPr>
              <a:t>Legalisation</a:t>
            </a:r>
            <a:endParaRPr lang="en-US" dirty="0">
              <a:solidFill>
                <a:schemeClr val="accent6">
                  <a:lumMod val="75000"/>
                </a:schemeClr>
              </a:solidFill>
            </a:endParaRPr>
          </a:p>
          <a:p>
            <a:endParaRPr lang="en-US" dirty="0"/>
          </a:p>
          <a:p>
            <a:r>
              <a:rPr lang="en-US" i="1" dirty="0"/>
              <a:t>“Cannabis Use, Employment, and Income: Fixed-effects Analysis of Panel Data” </a:t>
            </a:r>
            <a:r>
              <a:rPr lang="en-US" dirty="0"/>
              <a:t>- </a:t>
            </a:r>
            <a:r>
              <a:rPr lang="en-US" sz="2600" dirty="0"/>
              <a:t>Ioana Popovici and Michael T French</a:t>
            </a:r>
          </a:p>
          <a:p>
            <a:pPr lvl="1" fontAlgn="base"/>
            <a:r>
              <a:rPr lang="en-US" dirty="0">
                <a:solidFill>
                  <a:schemeClr val="accent6">
                    <a:lumMod val="75000"/>
                  </a:schemeClr>
                </a:solidFill>
              </a:rPr>
              <a:t>Potential Negative Relationship</a:t>
            </a:r>
          </a:p>
        </p:txBody>
      </p:sp>
    </p:spTree>
    <p:extLst>
      <p:ext uri="{BB962C8B-B14F-4D97-AF65-F5344CB8AC3E}">
        <p14:creationId xmlns:p14="http://schemas.microsoft.com/office/powerpoint/2010/main" val="97101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107AD6D-1E09-76D9-6B7B-99798FCC9E56}"/>
              </a:ext>
            </a:extLst>
          </p:cNvPr>
          <p:cNvSpPr>
            <a:spLocks noGrp="1"/>
          </p:cNvSpPr>
          <p:nvPr>
            <p:ph type="title"/>
          </p:nvPr>
        </p:nvSpPr>
        <p:spPr>
          <a:xfrm>
            <a:off x="640080" y="1243013"/>
            <a:ext cx="3855720" cy="4371974"/>
          </a:xfrm>
        </p:spPr>
        <p:txBody>
          <a:bodyPr>
            <a:normAutofit/>
          </a:bodyPr>
          <a:lstStyle/>
          <a:p>
            <a:r>
              <a:rPr lang="en-US" sz="3600" dirty="0">
                <a:solidFill>
                  <a:schemeClr val="tx2"/>
                </a:solidFill>
              </a:rPr>
              <a:t>Guiding Question</a:t>
            </a:r>
          </a:p>
        </p:txBody>
      </p:sp>
      <p:sp>
        <p:nvSpPr>
          <p:cNvPr id="3" name="Content Placeholder 2">
            <a:extLst>
              <a:ext uri="{FF2B5EF4-FFF2-40B4-BE49-F238E27FC236}">
                <a16:creationId xmlns:a16="http://schemas.microsoft.com/office/drawing/2014/main" id="{D3B142E1-9703-E17D-6F82-D05F7945DCD5}"/>
              </a:ext>
            </a:extLst>
          </p:cNvPr>
          <p:cNvSpPr>
            <a:spLocks noGrp="1"/>
          </p:cNvSpPr>
          <p:nvPr>
            <p:ph idx="1"/>
          </p:nvPr>
        </p:nvSpPr>
        <p:spPr>
          <a:xfrm>
            <a:off x="5627274" y="1797908"/>
            <a:ext cx="6128950" cy="2792627"/>
          </a:xfrm>
        </p:spPr>
        <p:txBody>
          <a:bodyPr anchor="ctr">
            <a:normAutofit/>
          </a:bodyPr>
          <a:lstStyle/>
          <a:p>
            <a:pPr marL="0" indent="0">
              <a:buNone/>
            </a:pPr>
            <a:endParaRPr lang="en-US" sz="1800" dirty="0">
              <a:solidFill>
                <a:schemeClr val="tx2"/>
              </a:solidFill>
            </a:endParaRPr>
          </a:p>
          <a:p>
            <a:pPr marL="0" indent="0">
              <a:buNone/>
            </a:pPr>
            <a:endParaRPr lang="en-US" sz="1800" dirty="0">
              <a:solidFill>
                <a:schemeClr val="tx2"/>
              </a:solidFill>
            </a:endParaRPr>
          </a:p>
          <a:p>
            <a:pPr marL="0" indent="0">
              <a:buNone/>
            </a:pPr>
            <a:r>
              <a:rPr lang="en-US" dirty="0">
                <a:solidFill>
                  <a:schemeClr val="tx2"/>
                </a:solidFill>
              </a:rPr>
              <a:t>Does </a:t>
            </a:r>
            <a:r>
              <a:rPr lang="en-US" dirty="0" err="1">
                <a:solidFill>
                  <a:schemeClr val="tx2"/>
                </a:solidFill>
              </a:rPr>
              <a:t>legalising</a:t>
            </a:r>
            <a:r>
              <a:rPr lang="en-US" dirty="0">
                <a:solidFill>
                  <a:schemeClr val="tx2"/>
                </a:solidFill>
              </a:rPr>
              <a:t> recreational marijuana have an impact on state-level employment?</a:t>
            </a:r>
            <a:endParaRPr lang="en-US" b="0" dirty="0">
              <a:solidFill>
                <a:schemeClr val="tx2"/>
              </a:solidFill>
              <a:effectLst/>
            </a:endParaRPr>
          </a:p>
          <a:p>
            <a:pPr marL="0" indent="0">
              <a:buNone/>
            </a:pPr>
            <a:endParaRPr lang="en-US" sz="1800" dirty="0">
              <a:solidFill>
                <a:schemeClr val="tx2"/>
              </a:solidFill>
            </a:endParaRPr>
          </a:p>
        </p:txBody>
      </p:sp>
    </p:spTree>
    <p:extLst>
      <p:ext uri="{BB962C8B-B14F-4D97-AF65-F5344CB8AC3E}">
        <p14:creationId xmlns:p14="http://schemas.microsoft.com/office/powerpoint/2010/main" val="4194909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DD5C9B49-C5F4-C8E4-5053-577369DD9B9C}"/>
              </a:ext>
            </a:extLst>
          </p:cNvPr>
          <p:cNvSpPr>
            <a:spLocks noGrp="1"/>
          </p:cNvSpPr>
          <p:nvPr>
            <p:ph type="title"/>
          </p:nvPr>
        </p:nvSpPr>
        <p:spPr>
          <a:xfrm>
            <a:off x="804672" y="1243013"/>
            <a:ext cx="3855720" cy="4371974"/>
          </a:xfrm>
        </p:spPr>
        <p:txBody>
          <a:bodyPr>
            <a:normAutofit/>
          </a:bodyPr>
          <a:lstStyle/>
          <a:p>
            <a:r>
              <a:rPr lang="en-US" sz="3600">
                <a:solidFill>
                  <a:schemeClr val="tx2"/>
                </a:solidFill>
              </a:rPr>
              <a:t>Methodology</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AB668466-F01C-DF46-47B1-D9D4CA4332C4}"/>
              </a:ext>
            </a:extLst>
          </p:cNvPr>
          <p:cNvSpPr>
            <a:spLocks noGrp="1"/>
          </p:cNvSpPr>
          <p:nvPr>
            <p:ph idx="1"/>
          </p:nvPr>
        </p:nvSpPr>
        <p:spPr>
          <a:xfrm>
            <a:off x="6632812" y="1032987"/>
            <a:ext cx="4919108" cy="4792027"/>
          </a:xfrm>
        </p:spPr>
        <p:txBody>
          <a:bodyPr anchor="ctr">
            <a:normAutofit/>
          </a:bodyPr>
          <a:lstStyle/>
          <a:p>
            <a:pPr marL="0" indent="0">
              <a:buNone/>
            </a:pPr>
            <a:r>
              <a:rPr lang="en-US" sz="2000" dirty="0" err="1">
                <a:solidFill>
                  <a:schemeClr val="tx2"/>
                </a:solidFill>
              </a:rPr>
              <a:t>DiD</a:t>
            </a:r>
            <a:r>
              <a:rPr lang="en-US" sz="2000" dirty="0">
                <a:solidFill>
                  <a:schemeClr val="tx2"/>
                </a:solidFill>
              </a:rPr>
              <a:t> Framework</a:t>
            </a:r>
          </a:p>
          <a:p>
            <a:r>
              <a:rPr lang="en-US" sz="2000" dirty="0">
                <a:solidFill>
                  <a:schemeClr val="tx2"/>
                </a:solidFill>
              </a:rPr>
              <a:t>Define the treatment:</a:t>
            </a:r>
          </a:p>
          <a:p>
            <a:pPr lvl="1"/>
            <a:r>
              <a:rPr lang="en-US" sz="2000" dirty="0">
                <a:solidFill>
                  <a:schemeClr val="tx2"/>
                </a:solidFill>
              </a:rPr>
              <a:t>The passing of legislature making marijuana fully legal for recreational use</a:t>
            </a:r>
          </a:p>
          <a:p>
            <a:r>
              <a:rPr lang="en-US" sz="2000" dirty="0">
                <a:solidFill>
                  <a:schemeClr val="tx2"/>
                </a:solidFill>
              </a:rPr>
              <a:t>Define the groups:</a:t>
            </a:r>
          </a:p>
          <a:p>
            <a:pPr lvl="1"/>
            <a:r>
              <a:rPr lang="en-US" sz="2000" dirty="0">
                <a:solidFill>
                  <a:schemeClr val="tx2"/>
                </a:solidFill>
              </a:rPr>
              <a:t>Control: Any state that never underwent treatment</a:t>
            </a:r>
          </a:p>
          <a:p>
            <a:pPr lvl="1"/>
            <a:r>
              <a:rPr lang="en-US" sz="2000" dirty="0">
                <a:solidFill>
                  <a:schemeClr val="tx2"/>
                </a:solidFill>
              </a:rPr>
              <a:t>Treatment: Any state that underwent treatment (2013-2024) </a:t>
            </a:r>
          </a:p>
          <a:p>
            <a:pPr marL="457200" lvl="1" indent="0">
              <a:buNone/>
            </a:pPr>
            <a:endParaRPr lang="en-US" sz="2000" dirty="0">
              <a:solidFill>
                <a:schemeClr val="tx2"/>
              </a:solidFill>
            </a:endParaRPr>
          </a:p>
        </p:txBody>
      </p:sp>
    </p:spTree>
    <p:extLst>
      <p:ext uri="{BB962C8B-B14F-4D97-AF65-F5344CB8AC3E}">
        <p14:creationId xmlns:p14="http://schemas.microsoft.com/office/powerpoint/2010/main" val="3432577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ADEE8D6-2122-E801-B939-DB43635BFF5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Difference-In-Differences: Explained</a:t>
            </a:r>
          </a:p>
        </p:txBody>
      </p:sp>
      <p:sp>
        <p:nvSpPr>
          <p:cNvPr id="23" name="Rectangle 2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111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8EE5D4-7BAE-34EE-B92A-8130B193B3F5}"/>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The Data:</a:t>
            </a:r>
          </a:p>
        </p:txBody>
      </p:sp>
      <p:sp>
        <p:nvSpPr>
          <p:cNvPr id="7" name="TextBox 6">
            <a:extLst>
              <a:ext uri="{FF2B5EF4-FFF2-40B4-BE49-F238E27FC236}">
                <a16:creationId xmlns:a16="http://schemas.microsoft.com/office/drawing/2014/main" id="{B0B39305-5BF1-57CE-F227-1C02EFA12BA0}"/>
              </a:ext>
            </a:extLst>
          </p:cNvPr>
          <p:cNvSpPr txBox="1"/>
          <p:nvPr/>
        </p:nvSpPr>
        <p:spPr>
          <a:xfrm>
            <a:off x="638881" y="1809541"/>
            <a:ext cx="10909643" cy="687406"/>
          </a:xfrm>
          <a:prstGeom prst="rect">
            <a:avLst/>
          </a:prstGeom>
        </p:spPr>
        <p:txBody>
          <a:bodyPr vert="horz" lIns="91440" tIns="45720" rIns="91440" bIns="45720" rtlCol="0" anchor="ctr">
            <a:normAutofit/>
          </a:bodyPr>
          <a:lstStyle/>
          <a:p>
            <a:pPr algn="ctr" defTabSz="914400">
              <a:lnSpc>
                <a:spcPct val="90000"/>
              </a:lnSpc>
              <a:spcBef>
                <a:spcPts val="1000"/>
              </a:spcBef>
            </a:pPr>
            <a:r>
              <a:rPr lang="en-US" sz="2400" kern="1200" dirty="0">
                <a:solidFill>
                  <a:schemeClr val="tx1"/>
                </a:solidFill>
                <a:latin typeface="+mn-lt"/>
                <a:ea typeface="+mn-ea"/>
                <a:cs typeface="+mn-cs"/>
              </a:rPr>
              <a:t>Annual Average Employment (State-Level)</a:t>
            </a:r>
          </a:p>
        </p:txBody>
      </p:sp>
      <p:sp>
        <p:nvSpPr>
          <p:cNvPr id="23"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78DC7F13-BBD0-93A3-1C93-65DCB6839AD4}"/>
              </a:ext>
            </a:extLst>
          </p:cNvPr>
          <p:cNvGraphicFramePr>
            <a:graphicFrameLocks noGrp="1"/>
          </p:cNvGraphicFramePr>
          <p:nvPr>
            <p:extLst>
              <p:ext uri="{D42A27DB-BD31-4B8C-83A1-F6EECF244321}">
                <p14:modId xmlns:p14="http://schemas.microsoft.com/office/powerpoint/2010/main" val="3046271363"/>
              </p:ext>
            </p:extLst>
          </p:nvPr>
        </p:nvGraphicFramePr>
        <p:xfrm>
          <a:off x="2436893" y="3345370"/>
          <a:ext cx="7315168" cy="2162556"/>
        </p:xfrm>
        <a:graphic>
          <a:graphicData uri="http://schemas.openxmlformats.org/drawingml/2006/table">
            <a:tbl>
              <a:tblPr firstRow="1" bandRow="1">
                <a:tableStyleId>{5C22544A-7EE6-4342-B048-85BDC9FD1C3A}</a:tableStyleId>
              </a:tblPr>
              <a:tblGrid>
                <a:gridCol w="3985941">
                  <a:extLst>
                    <a:ext uri="{9D8B030D-6E8A-4147-A177-3AD203B41FA5}">
                      <a16:colId xmlns:a16="http://schemas.microsoft.com/office/drawing/2014/main" val="2818198647"/>
                    </a:ext>
                  </a:extLst>
                </a:gridCol>
                <a:gridCol w="3329227">
                  <a:extLst>
                    <a:ext uri="{9D8B030D-6E8A-4147-A177-3AD203B41FA5}">
                      <a16:colId xmlns:a16="http://schemas.microsoft.com/office/drawing/2014/main" val="3406883734"/>
                    </a:ext>
                  </a:extLst>
                </a:gridCol>
              </a:tblGrid>
              <a:tr h="2162556">
                <a:tc>
                  <a:txBody>
                    <a:bodyPr/>
                    <a:lstStyle/>
                    <a:p>
                      <a:r>
                        <a:rPr lang="en-US" sz="3300" dirty="0"/>
                        <a:t>Year (1976—2022)</a:t>
                      </a:r>
                    </a:p>
                    <a:p>
                      <a:r>
                        <a:rPr lang="en-US" sz="3300" dirty="0"/>
                        <a:t>Population (18-64)</a:t>
                      </a:r>
                    </a:p>
                    <a:p>
                      <a:r>
                        <a:rPr lang="en-US" sz="3300" dirty="0"/>
                        <a:t>Sex</a:t>
                      </a:r>
                    </a:p>
                    <a:p>
                      <a:r>
                        <a:rPr lang="en-US" sz="3300" dirty="0"/>
                        <a:t>Race</a:t>
                      </a:r>
                    </a:p>
                  </a:txBody>
                  <a:tcPr marL="107769" marR="107769" marT="53884" marB="53884">
                    <a:solidFill>
                      <a:schemeClr val="accent3">
                        <a:lumMod val="75000"/>
                      </a:schemeClr>
                    </a:solidFill>
                  </a:tcPr>
                </a:tc>
                <a:tc>
                  <a:txBody>
                    <a:bodyPr/>
                    <a:lstStyle/>
                    <a:p>
                      <a:r>
                        <a:rPr lang="en-US" sz="3300" dirty="0"/>
                        <a:t>GDP</a:t>
                      </a:r>
                    </a:p>
                    <a:p>
                      <a:r>
                        <a:rPr lang="en-US" sz="3300" dirty="0"/>
                        <a:t>Minimum Wage</a:t>
                      </a:r>
                    </a:p>
                    <a:p>
                      <a:r>
                        <a:rPr lang="en-US" sz="3300" dirty="0"/>
                        <a:t>Median Income</a:t>
                      </a:r>
                    </a:p>
                    <a:p>
                      <a:r>
                        <a:rPr lang="en-US" sz="3300" dirty="0"/>
                        <a:t>Region</a:t>
                      </a:r>
                    </a:p>
                  </a:txBody>
                  <a:tcPr marL="107769" marR="107769" marT="53884" marB="53884">
                    <a:solidFill>
                      <a:schemeClr val="accent3">
                        <a:lumMod val="75000"/>
                      </a:schemeClr>
                    </a:solidFill>
                  </a:tcPr>
                </a:tc>
                <a:extLst>
                  <a:ext uri="{0D108BD9-81ED-4DB2-BD59-A6C34878D82A}">
                    <a16:rowId xmlns:a16="http://schemas.microsoft.com/office/drawing/2014/main" val="3571053293"/>
                  </a:ext>
                </a:extLst>
              </a:tr>
            </a:tbl>
          </a:graphicData>
        </a:graphic>
      </p:graphicFrame>
    </p:spTree>
    <p:extLst>
      <p:ext uri="{BB962C8B-B14F-4D97-AF65-F5344CB8AC3E}">
        <p14:creationId xmlns:p14="http://schemas.microsoft.com/office/powerpoint/2010/main" val="177929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1CC5-9503-46ED-5AA0-6D7641E5E108}"/>
              </a:ext>
            </a:extLst>
          </p:cNvPr>
          <p:cNvSpPr>
            <a:spLocks noGrp="1"/>
          </p:cNvSpPr>
          <p:nvPr>
            <p:ph type="title"/>
          </p:nvPr>
        </p:nvSpPr>
        <p:spPr/>
        <p:txBody>
          <a:bodyPr/>
          <a:lstStyle/>
          <a:p>
            <a:r>
              <a:rPr lang="en-US" dirty="0"/>
              <a:t>Simple FE (</a:t>
            </a:r>
            <a:r>
              <a:rPr lang="en-US" dirty="0" err="1"/>
              <a:t>DiD</a:t>
            </a:r>
            <a:r>
              <a:rPr lang="en-US" dirty="0"/>
              <a:t>) Model</a:t>
            </a:r>
          </a:p>
        </p:txBody>
      </p:sp>
      <p:pic>
        <p:nvPicPr>
          <p:cNvPr id="1026" name="Picture 2">
            <a:extLst>
              <a:ext uri="{FF2B5EF4-FFF2-40B4-BE49-F238E27FC236}">
                <a16:creationId xmlns:a16="http://schemas.microsoft.com/office/drawing/2014/main" id="{234101B3-EAED-A046-6FAF-DAD82A6C4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9650" y="3422650"/>
            <a:ext cx="12700" cy="12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55D0C06-86ED-63DF-C8E8-EF61A808A12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0" b="0" i="0" u="none" strike="noStrike" cap="none" normalizeH="0" baseline="0">
                <a:ln>
                  <a:noFill/>
                </a:ln>
                <a:solidFill>
                  <a:srgbClr val="E6E8F0"/>
                </a:solidFill>
                <a:effectLst/>
                <a:latin typeface="Google Sans"/>
              </a:rPr>
              <a:t>  </a:t>
            </a:r>
            <a:r>
              <a:rPr kumimoji="0" lang="en-US" altLang="en-US" b="0" i="0" u="none" strike="noStrike" cap="none" normalizeH="0" baseline="0">
                <a:ln>
                  <a:noFill/>
                </a:ln>
                <a:solidFill>
                  <a:srgbClr val="E6E8F0"/>
                </a:solidFill>
                <a:effectLst/>
                <a:latin typeface="Google Sans"/>
              </a:rPr>
              <a:t> </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6E8F0"/>
                </a:solidFill>
                <a:effectLst/>
                <a:latin typeface="Google Sans"/>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8BD45087-BAF4-22DA-B15C-022CF52505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715963"/>
            <a:ext cx="12700" cy="127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18F5ACD-78B4-BB91-832F-43F6C23FF881}"/>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0" b="0" i="0" u="none" strike="noStrike" cap="none" normalizeH="0" baseline="0">
                <a:ln>
                  <a:noFill/>
                </a:ln>
                <a:solidFill>
                  <a:srgbClr val="E6E8F0"/>
                </a:solidFill>
                <a:effectLst/>
                <a:latin typeface="Google Sans"/>
              </a:rPr>
              <a:t>  </a:t>
            </a:r>
            <a:r>
              <a:rPr kumimoji="0" lang="en-US" altLang="en-US" b="0" i="0" u="none" strike="noStrike" cap="none" normalizeH="0" baseline="0">
                <a:ln>
                  <a:noFill/>
                </a:ln>
                <a:solidFill>
                  <a:srgbClr val="E6E8F0"/>
                </a:solidFill>
                <a:effectLst/>
                <a:latin typeface="Google Sans"/>
              </a:rPr>
              <a:t> </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6E8F0"/>
                </a:solidFill>
                <a:effectLst/>
                <a:latin typeface="Google Sans"/>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30" name="Picture 6">
            <a:extLst>
              <a:ext uri="{FF2B5EF4-FFF2-40B4-BE49-F238E27FC236}">
                <a16:creationId xmlns:a16="http://schemas.microsoft.com/office/drawing/2014/main" id="{FC662E18-9A00-1D8F-CA9F-9AE8975D7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5635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background with white text&#10;&#10;AI-generated content may be incorrect.">
            <a:extLst>
              <a:ext uri="{FF2B5EF4-FFF2-40B4-BE49-F238E27FC236}">
                <a16:creationId xmlns:a16="http://schemas.microsoft.com/office/drawing/2014/main" id="{02516F05-28FD-7EC4-5E08-ABED8087F78E}"/>
              </a:ext>
            </a:extLst>
          </p:cNvPr>
          <p:cNvPicPr>
            <a:picLocks noChangeAspect="1"/>
          </p:cNvPicPr>
          <p:nvPr/>
        </p:nvPicPr>
        <p:blipFill>
          <a:blip r:embed="rId4"/>
          <a:stretch>
            <a:fillRect/>
          </a:stretch>
        </p:blipFill>
        <p:spPr>
          <a:xfrm>
            <a:off x="2165236" y="2846688"/>
            <a:ext cx="7848827" cy="1177324"/>
          </a:xfrm>
          <a:prstGeom prst="rect">
            <a:avLst/>
          </a:prstGeom>
        </p:spPr>
      </p:pic>
    </p:spTree>
    <p:extLst>
      <p:ext uri="{BB962C8B-B14F-4D97-AF65-F5344CB8AC3E}">
        <p14:creationId xmlns:p14="http://schemas.microsoft.com/office/powerpoint/2010/main" val="3959208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screenshot of a blue screen&#10;&#10;AI-generated content may be incorrect.">
            <a:extLst>
              <a:ext uri="{FF2B5EF4-FFF2-40B4-BE49-F238E27FC236}">
                <a16:creationId xmlns:a16="http://schemas.microsoft.com/office/drawing/2014/main" id="{2B14E519-3A46-C4B4-B389-67868114CF5F}"/>
              </a:ext>
            </a:extLst>
          </p:cNvPr>
          <p:cNvPicPr>
            <a:picLocks noChangeAspect="1"/>
          </p:cNvPicPr>
          <p:nvPr/>
        </p:nvPicPr>
        <p:blipFill>
          <a:blip r:embed="rId3"/>
          <a:srcRect b="52064"/>
          <a:stretch>
            <a:fillRect/>
          </a:stretch>
        </p:blipFill>
        <p:spPr>
          <a:xfrm>
            <a:off x="699139" y="167644"/>
            <a:ext cx="10793721" cy="6522711"/>
          </a:xfrm>
          <a:prstGeom prst="rect">
            <a:avLst/>
          </a:prstGeom>
        </p:spPr>
      </p:pic>
      <p:sp>
        <p:nvSpPr>
          <p:cNvPr id="22" name="Rectangle 21">
            <a:extLst>
              <a:ext uri="{FF2B5EF4-FFF2-40B4-BE49-F238E27FC236}">
                <a16:creationId xmlns:a16="http://schemas.microsoft.com/office/drawing/2014/main" id="{40181922-2DE4-C8EE-3E56-53ABD777EC78}"/>
              </a:ext>
            </a:extLst>
          </p:cNvPr>
          <p:cNvSpPr/>
          <p:nvPr/>
        </p:nvSpPr>
        <p:spPr>
          <a:xfrm>
            <a:off x="2990335" y="778476"/>
            <a:ext cx="1890584" cy="6301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8502B6C-8AA7-C116-1F82-1EE3CD0B5A83}"/>
              </a:ext>
            </a:extLst>
          </p:cNvPr>
          <p:cNvSpPr/>
          <p:nvPr/>
        </p:nvSpPr>
        <p:spPr>
          <a:xfrm>
            <a:off x="9860692" y="778476"/>
            <a:ext cx="1632168" cy="6301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4928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95FB8-02AC-E33C-00BC-87344724B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769D9-6E2A-90E9-E7E8-4E408015A1CA}"/>
              </a:ext>
            </a:extLst>
          </p:cNvPr>
          <p:cNvSpPr>
            <a:spLocks noGrp="1"/>
          </p:cNvSpPr>
          <p:nvPr>
            <p:ph type="title"/>
          </p:nvPr>
        </p:nvSpPr>
        <p:spPr/>
        <p:txBody>
          <a:bodyPr/>
          <a:lstStyle/>
          <a:p>
            <a:r>
              <a:rPr lang="en-US" dirty="0"/>
              <a:t>Two Interaction Terms</a:t>
            </a:r>
          </a:p>
        </p:txBody>
      </p:sp>
      <p:pic>
        <p:nvPicPr>
          <p:cNvPr id="1026" name="Picture 2">
            <a:extLst>
              <a:ext uri="{FF2B5EF4-FFF2-40B4-BE49-F238E27FC236}">
                <a16:creationId xmlns:a16="http://schemas.microsoft.com/office/drawing/2014/main" id="{868B24F8-0ED9-2520-77FE-7CD0AE273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9650" y="3422650"/>
            <a:ext cx="12700" cy="12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80D674B3-167E-B0A5-2DE9-BBEBD402B8B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0" b="0" i="0" u="none" strike="noStrike" cap="none" normalizeH="0" baseline="0">
                <a:ln>
                  <a:noFill/>
                </a:ln>
                <a:solidFill>
                  <a:srgbClr val="E6E8F0"/>
                </a:solidFill>
                <a:effectLst/>
                <a:latin typeface="Google Sans"/>
              </a:rPr>
              <a:t>  </a:t>
            </a:r>
            <a:r>
              <a:rPr kumimoji="0" lang="en-US" altLang="en-US" b="0" i="0" u="none" strike="noStrike" cap="none" normalizeH="0" baseline="0">
                <a:ln>
                  <a:noFill/>
                </a:ln>
                <a:solidFill>
                  <a:srgbClr val="E6E8F0"/>
                </a:solidFill>
                <a:effectLst/>
                <a:latin typeface="Google Sans"/>
              </a:rPr>
              <a:t> </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6E8F0"/>
                </a:solidFill>
                <a:effectLst/>
                <a:latin typeface="Google Sans"/>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2D567223-F611-F5F0-7C3B-094284B1F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715963"/>
            <a:ext cx="12700" cy="127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410E4AF-8FDB-5582-C759-777E80F5C9EC}"/>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0" b="0" i="0" u="none" strike="noStrike" cap="none" normalizeH="0" baseline="0">
                <a:ln>
                  <a:noFill/>
                </a:ln>
                <a:solidFill>
                  <a:srgbClr val="E6E8F0"/>
                </a:solidFill>
                <a:effectLst/>
                <a:latin typeface="Google Sans"/>
              </a:rPr>
              <a:t>  </a:t>
            </a:r>
            <a:r>
              <a:rPr kumimoji="0" lang="en-US" altLang="en-US" b="0" i="0" u="none" strike="noStrike" cap="none" normalizeH="0" baseline="0">
                <a:ln>
                  <a:noFill/>
                </a:ln>
                <a:solidFill>
                  <a:srgbClr val="E6E8F0"/>
                </a:solidFill>
                <a:effectLst/>
                <a:latin typeface="Google Sans"/>
              </a:rPr>
              <a:t> </a:t>
            </a:r>
            <a:endParaRPr kumimoji="0" lang="en-US" altLang="en-US" sz="10000" b="0" i="0" u="none" strike="noStrike" cap="none" normalizeH="0" baseline="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6E8F0"/>
                </a:solidFill>
                <a:effectLst/>
                <a:latin typeface="Google Sans"/>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30" name="Picture 6">
            <a:extLst>
              <a:ext uri="{FF2B5EF4-FFF2-40B4-BE49-F238E27FC236}">
                <a16:creationId xmlns:a16="http://schemas.microsoft.com/office/drawing/2014/main" id="{4F529414-B8C1-0AAD-5F5D-8C8EF5D3A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5635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082C0F4-356E-9481-ACF2-D90247B702E8}"/>
              </a:ext>
            </a:extLst>
          </p:cNvPr>
          <p:cNvPicPr>
            <a:picLocks noChangeAspect="1"/>
          </p:cNvPicPr>
          <p:nvPr/>
        </p:nvPicPr>
        <p:blipFill>
          <a:blip r:embed="rId4"/>
          <a:stretch>
            <a:fillRect/>
          </a:stretch>
        </p:blipFill>
        <p:spPr>
          <a:xfrm>
            <a:off x="656702" y="2964545"/>
            <a:ext cx="10891296" cy="941610"/>
          </a:xfrm>
          <a:prstGeom prst="rect">
            <a:avLst/>
          </a:prstGeom>
        </p:spPr>
      </p:pic>
    </p:spTree>
    <p:extLst>
      <p:ext uri="{BB962C8B-B14F-4D97-AF65-F5344CB8AC3E}">
        <p14:creationId xmlns:p14="http://schemas.microsoft.com/office/powerpoint/2010/main" val="3766050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blue screen&#10;&#10;AI-generated content may be incorrect.">
            <a:extLst>
              <a:ext uri="{FF2B5EF4-FFF2-40B4-BE49-F238E27FC236}">
                <a16:creationId xmlns:a16="http://schemas.microsoft.com/office/drawing/2014/main" id="{BCAAFEC1-8DE9-5883-8E3C-217285E46762}"/>
              </a:ext>
            </a:extLst>
          </p:cNvPr>
          <p:cNvPicPr>
            <a:picLocks noChangeAspect="1"/>
          </p:cNvPicPr>
          <p:nvPr/>
        </p:nvPicPr>
        <p:blipFill>
          <a:blip r:embed="rId3"/>
          <a:stretch>
            <a:fillRect/>
          </a:stretch>
        </p:blipFill>
        <p:spPr>
          <a:xfrm>
            <a:off x="3272480" y="70001"/>
            <a:ext cx="5647037" cy="6787999"/>
          </a:xfrm>
          <a:prstGeom prst="rect">
            <a:avLst/>
          </a:prstGeom>
        </p:spPr>
      </p:pic>
      <p:sp>
        <p:nvSpPr>
          <p:cNvPr id="11" name="Rectangle 10">
            <a:extLst>
              <a:ext uri="{FF2B5EF4-FFF2-40B4-BE49-F238E27FC236}">
                <a16:creationId xmlns:a16="http://schemas.microsoft.com/office/drawing/2014/main" id="{09932D5D-5027-E7D5-FD2B-8762029A2C79}"/>
              </a:ext>
            </a:extLst>
          </p:cNvPr>
          <p:cNvSpPr/>
          <p:nvPr/>
        </p:nvSpPr>
        <p:spPr>
          <a:xfrm>
            <a:off x="3272480" y="1517811"/>
            <a:ext cx="5647037" cy="8526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844B23-039C-A56E-9948-21E4441521F7}"/>
              </a:ext>
            </a:extLst>
          </p:cNvPr>
          <p:cNvSpPr/>
          <p:nvPr/>
        </p:nvSpPr>
        <p:spPr>
          <a:xfrm>
            <a:off x="3272480" y="5970383"/>
            <a:ext cx="5647037" cy="852616"/>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B1BEA08-0992-B910-EDA9-27ECB58F8D1D}"/>
              </a:ext>
            </a:extLst>
          </p:cNvPr>
          <p:cNvSpPr/>
          <p:nvPr/>
        </p:nvSpPr>
        <p:spPr>
          <a:xfrm>
            <a:off x="3272480" y="630195"/>
            <a:ext cx="5647037" cy="852616"/>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6598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graph showing the number of the event&#10;&#10;AI-generated content may be incorrect.">
            <a:extLst>
              <a:ext uri="{FF2B5EF4-FFF2-40B4-BE49-F238E27FC236}">
                <a16:creationId xmlns:a16="http://schemas.microsoft.com/office/drawing/2014/main" id="{4EEDCF20-9E33-6E71-DB72-3D6CBC6AF803}"/>
              </a:ext>
            </a:extLst>
          </p:cNvPr>
          <p:cNvPicPr>
            <a:picLocks noGrp="1" noChangeAspect="1"/>
          </p:cNvPicPr>
          <p:nvPr>
            <p:ph idx="1"/>
          </p:nvPr>
        </p:nvPicPr>
        <p:blipFill>
          <a:blip r:embed="rId3"/>
          <a:stretch>
            <a:fillRect/>
          </a:stretch>
        </p:blipFill>
        <p:spPr>
          <a:xfrm>
            <a:off x="1603205" y="643467"/>
            <a:ext cx="8985589" cy="5571065"/>
          </a:xfrm>
          <a:prstGeom prst="rect">
            <a:avLst/>
          </a:prstGeom>
          <a:ln>
            <a:noFill/>
          </a:ln>
        </p:spPr>
      </p:pic>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644232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BA4902A-B1B9-0947-E747-38DFE5CDEAC9}"/>
              </a:ext>
            </a:extLst>
          </p:cNvPr>
          <p:cNvSpPr>
            <a:spLocks noGrp="1"/>
          </p:cNvSpPr>
          <p:nvPr>
            <p:ph type="title"/>
          </p:nvPr>
        </p:nvSpPr>
        <p:spPr>
          <a:xfrm>
            <a:off x="640080" y="1243013"/>
            <a:ext cx="3855720" cy="4371974"/>
          </a:xfrm>
        </p:spPr>
        <p:txBody>
          <a:bodyPr>
            <a:normAutofit/>
          </a:bodyPr>
          <a:lstStyle/>
          <a:p>
            <a:r>
              <a:rPr lang="en-US" sz="3600" dirty="0">
                <a:solidFill>
                  <a:schemeClr val="tx2"/>
                </a:solidFill>
              </a:rPr>
              <a:t>Limitations</a:t>
            </a:r>
          </a:p>
        </p:txBody>
      </p:sp>
      <p:sp>
        <p:nvSpPr>
          <p:cNvPr id="3" name="Content Placeholder 2">
            <a:extLst>
              <a:ext uri="{FF2B5EF4-FFF2-40B4-BE49-F238E27FC236}">
                <a16:creationId xmlns:a16="http://schemas.microsoft.com/office/drawing/2014/main" id="{47069078-CC1A-61E9-1387-3DA65B2519B6}"/>
              </a:ext>
            </a:extLst>
          </p:cNvPr>
          <p:cNvSpPr>
            <a:spLocks noGrp="1"/>
          </p:cNvSpPr>
          <p:nvPr>
            <p:ph idx="1"/>
          </p:nvPr>
        </p:nvSpPr>
        <p:spPr>
          <a:xfrm>
            <a:off x="6172200" y="804672"/>
            <a:ext cx="5221224" cy="5230368"/>
          </a:xfrm>
        </p:spPr>
        <p:txBody>
          <a:bodyPr anchor="ctr">
            <a:normAutofit/>
          </a:bodyPr>
          <a:lstStyle/>
          <a:p>
            <a:r>
              <a:rPr lang="en-US" sz="2400" dirty="0">
                <a:solidFill>
                  <a:schemeClr val="tx2"/>
                </a:solidFill>
              </a:rPr>
              <a:t>Small data sample: only 50 states</a:t>
            </a:r>
          </a:p>
          <a:p>
            <a:endParaRPr lang="en-US" sz="2400" dirty="0">
              <a:solidFill>
                <a:schemeClr val="tx2"/>
              </a:solidFill>
            </a:endParaRPr>
          </a:p>
          <a:p>
            <a:r>
              <a:rPr lang="en-US" sz="2400" dirty="0">
                <a:solidFill>
                  <a:schemeClr val="tx2"/>
                </a:solidFill>
              </a:rPr>
              <a:t>Time: legalization occurred continuously between 2013 and present. The later the legislation was passed, the less data I have for post treatment analysis.</a:t>
            </a:r>
          </a:p>
          <a:p>
            <a:endParaRPr lang="en-US" sz="1800" dirty="0">
              <a:solidFill>
                <a:schemeClr val="tx2"/>
              </a:solidFill>
            </a:endParaRPr>
          </a:p>
        </p:txBody>
      </p:sp>
    </p:spTree>
    <p:extLst>
      <p:ext uri="{BB962C8B-B14F-4D97-AF65-F5344CB8AC3E}">
        <p14:creationId xmlns:p14="http://schemas.microsoft.com/office/powerpoint/2010/main" val="42700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15C47-273C-A40B-1951-4F3BB062E683}"/>
              </a:ext>
            </a:extLst>
          </p:cNvPr>
          <p:cNvSpPr>
            <a:spLocks noGrp="1"/>
          </p:cNvSpPr>
          <p:nvPr>
            <p:ph type="title"/>
          </p:nvPr>
        </p:nvSpPr>
        <p:spPr>
          <a:xfrm>
            <a:off x="841248" y="548640"/>
            <a:ext cx="3600860" cy="5431536"/>
          </a:xfrm>
        </p:spPr>
        <p:txBody>
          <a:bodyPr>
            <a:normAutofit/>
          </a:bodyPr>
          <a:lstStyle/>
          <a:p>
            <a:r>
              <a:rPr lang="en-US" sz="5400" dirty="0"/>
              <a:t>Conclusion</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6DA498-0BAE-D23F-B3AF-256902A73232}"/>
              </a:ext>
            </a:extLst>
          </p:cNvPr>
          <p:cNvSpPr>
            <a:spLocks noGrp="1"/>
          </p:cNvSpPr>
          <p:nvPr>
            <p:ph idx="1"/>
          </p:nvPr>
        </p:nvSpPr>
        <p:spPr>
          <a:xfrm>
            <a:off x="5126418" y="552091"/>
            <a:ext cx="6224335" cy="5431536"/>
          </a:xfrm>
        </p:spPr>
        <p:txBody>
          <a:bodyPr anchor="ctr">
            <a:normAutofit/>
          </a:bodyPr>
          <a:lstStyle/>
          <a:p>
            <a:r>
              <a:rPr lang="en-US" sz="2400" dirty="0"/>
              <a:t>These observations are purely observational</a:t>
            </a:r>
          </a:p>
          <a:p>
            <a:r>
              <a:rPr lang="en-US" sz="2400" dirty="0"/>
              <a:t>Minimal effects, but not zero. </a:t>
            </a:r>
          </a:p>
          <a:p>
            <a:pPr lvl="1"/>
            <a:r>
              <a:rPr lang="en-US" sz="2000" dirty="0"/>
              <a:t>Convoluted</a:t>
            </a:r>
          </a:p>
          <a:p>
            <a:r>
              <a:rPr lang="en-US" sz="2400" dirty="0"/>
              <a:t>Continued analysis required</a:t>
            </a:r>
          </a:p>
        </p:txBody>
      </p:sp>
    </p:spTree>
    <p:extLst>
      <p:ext uri="{BB962C8B-B14F-4D97-AF65-F5344CB8AC3E}">
        <p14:creationId xmlns:p14="http://schemas.microsoft.com/office/powerpoint/2010/main" val="38624532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2751</TotalTime>
  <Words>495</Words>
  <Application>Microsoft Macintosh PowerPoint</Application>
  <PresentationFormat>Widescreen</PresentationFormat>
  <Paragraphs>76</Paragraphs>
  <Slides>13</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Google Sans</vt:lpstr>
      <vt:lpstr>Office Theme</vt:lpstr>
      <vt:lpstr>Recreational Marijuana and State-Level Employment Rates</vt:lpstr>
      <vt:lpstr>Existing Literature</vt:lpstr>
      <vt:lpstr>Guiding Question</vt:lpstr>
      <vt:lpstr>Methodology</vt:lpstr>
      <vt:lpstr>Difference-In-Differences: Explained</vt:lpstr>
      <vt:lpstr>The Data:</vt:lpstr>
      <vt:lpstr>Simple FE (DiD) Model</vt:lpstr>
      <vt:lpstr>PowerPoint Presentation</vt:lpstr>
      <vt:lpstr>Two Interaction Terms</vt:lpstr>
      <vt:lpstr>PowerPoint Presentation</vt:lpstr>
      <vt:lpstr>PowerPoint Presentation</vt:lpstr>
      <vt:lpstr>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Oliver J. Reece</dc:creator>
  <cp:lastModifiedBy>Oliver J. Reece</cp:lastModifiedBy>
  <cp:revision>3</cp:revision>
  <dcterms:created xsi:type="dcterms:W3CDTF">2026-03-03T20:48:42Z</dcterms:created>
  <dcterms:modified xsi:type="dcterms:W3CDTF">2026-03-05T18:39:57Z</dcterms:modified>
</cp:coreProperties>
</file>